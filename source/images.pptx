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456" r:id="rId2"/>
    <p:sldId id="458" r:id="rId3"/>
    <p:sldId id="457" r:id="rId4"/>
    <p:sldId id="460" r:id="rId5"/>
    <p:sldId id="459" r:id="rId6"/>
    <p:sldId id="461" r:id="rId7"/>
    <p:sldId id="462" r:id="rId8"/>
    <p:sldId id="464" r:id="rId9"/>
    <p:sldId id="465" r:id="rId10"/>
    <p:sldId id="466" r:id="rId11"/>
    <p:sldId id="467" r:id="rId12"/>
    <p:sldId id="469" r:id="rId13"/>
    <p:sldId id="470" r:id="rId14"/>
    <p:sldId id="471" r:id="rId15"/>
  </p:sldIdLst>
  <p:sldSz cx="12204700" cy="6859588"/>
  <p:notesSz cx="7099300" cy="10234613"/>
  <p:defaultTextStyle>
    <a:defPPr>
      <a:defRPr lang="ja-JP"/>
    </a:defPPr>
    <a:lvl1pPr marL="0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544662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089325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1633987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2178649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2723312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3267974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3812637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4357299" algn="l" defTabSz="1089325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48">
          <p15:clr>
            <a:srgbClr val="A4A3A4"/>
          </p15:clr>
        </p15:guide>
        <p15:guide id="2" orient="horz" pos="227">
          <p15:clr>
            <a:srgbClr val="A4A3A4"/>
          </p15:clr>
        </p15:guide>
        <p15:guide id="3" orient="horz" pos="568">
          <p15:clr>
            <a:srgbClr val="A4A3A4"/>
          </p15:clr>
        </p15:guide>
        <p15:guide id="4" orient="horz" pos="3929">
          <p15:clr>
            <a:srgbClr val="A4A3A4"/>
          </p15:clr>
        </p15:guide>
        <p15:guide id="5" orient="horz" pos="682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pos="3844">
          <p15:clr>
            <a:srgbClr val="A4A3A4"/>
          </p15:clr>
        </p15:guide>
        <p15:guide id="8" pos="271">
          <p15:clr>
            <a:srgbClr val="A4A3A4"/>
          </p15:clr>
        </p15:guide>
        <p15:guide id="9" pos="454">
          <p15:clr>
            <a:srgbClr val="A4A3A4"/>
          </p15:clr>
        </p15:guide>
        <p15:guide id="10" pos="7234">
          <p15:clr>
            <a:srgbClr val="A4A3A4"/>
          </p15:clr>
        </p15:guide>
        <p15:guide id="11" pos="74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iri Kato" initials="D.K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3333FF"/>
    <a:srgbClr val="534C49"/>
    <a:srgbClr val="A6B0B9"/>
    <a:srgbClr val="232524"/>
    <a:srgbClr val="252425"/>
    <a:srgbClr val="646464"/>
    <a:srgbClr val="C8C8C8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17" autoAdjust="0"/>
  </p:normalViewPr>
  <p:slideViewPr>
    <p:cSldViewPr>
      <p:cViewPr varScale="1">
        <p:scale>
          <a:sx n="76" d="100"/>
          <a:sy n="76" d="100"/>
        </p:scale>
        <p:origin x="216" y="48"/>
      </p:cViewPr>
      <p:guideLst>
        <p:guide orient="horz" pos="4048"/>
        <p:guide orient="horz" pos="227"/>
        <p:guide orient="horz" pos="568"/>
        <p:guide orient="horz" pos="3929"/>
        <p:guide orient="horz" pos="682"/>
        <p:guide orient="horz" pos="2160"/>
        <p:guide pos="3844"/>
        <p:guide pos="271"/>
        <p:guide pos="454"/>
        <p:guide pos="7234"/>
        <p:guide pos="74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8" d="100"/>
        <a:sy n="148" d="100"/>
      </p:scale>
      <p:origin x="0" y="9954"/>
    </p:cViewPr>
  </p:sorterViewPr>
  <p:notesViewPr>
    <p:cSldViewPr showGuides="1">
      <p:cViewPr varScale="1">
        <p:scale>
          <a:sx n="73" d="100"/>
          <a:sy n="73" d="100"/>
        </p:scale>
        <p:origin x="2316" y="3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5664389-FDA7-DD41-A374-B1DA747FDC5A}" type="datetimeFigureOut">
              <a:rPr kumimoji="1" lang="ja-JP" altLang="en-US" smtClean="0"/>
              <a:pPr/>
              <a:t>2025/12/2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F703614E-5182-F847-8C8B-1C22E58109F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0437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742ED1A7-AB37-4B52-BC42-F90D4DEB2F36}" type="datetimeFigureOut">
              <a:rPr kumimoji="1" lang="ja-JP" altLang="en-US" smtClean="0"/>
              <a:pPr/>
              <a:t>2025/12/2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4938" y="766763"/>
            <a:ext cx="682942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80" rIns="94759" bIns="4738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4759" tIns="47380" rIns="94759" bIns="4738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DF26B5EF-E6B2-4482-B3E1-BC282756F211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411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タイトルとコンテンツ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81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744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</p:sldLayoutIdLst>
  <p:hf hdr="0"/>
  <p:txStyles>
    <p:titleStyle>
      <a:lvl1pPr algn="l" defTabSz="1089325" rtl="0" eaLnBrk="1" latinLnBrk="0" hangingPunct="1">
        <a:spcBef>
          <a:spcPct val="0"/>
        </a:spcBef>
        <a:buNone/>
        <a:defRPr kumimoji="1" sz="52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408497" indent="-408497" algn="l" defTabSz="1089325" rtl="0" eaLnBrk="1" latinLnBrk="0" hangingPunct="1">
        <a:spcBef>
          <a:spcPct val="20000"/>
        </a:spcBef>
        <a:buFont typeface="Arial" pitchFamily="34" charset="0"/>
        <a:buChar char="•"/>
        <a:defRPr kumimoji="1" sz="3800" kern="1200">
          <a:solidFill>
            <a:schemeClr val="tx1"/>
          </a:solidFill>
          <a:latin typeface="+mj-ea"/>
          <a:ea typeface="+mj-ea"/>
          <a:cs typeface="+mn-cs"/>
        </a:defRPr>
      </a:lvl1pPr>
      <a:lvl2pPr marL="885076" indent="-340414" algn="l" defTabSz="1089325" rtl="0" eaLnBrk="1" latinLnBrk="0" hangingPunct="1">
        <a:spcBef>
          <a:spcPct val="20000"/>
        </a:spcBef>
        <a:buFont typeface="Arial" pitchFamily="34" charset="0"/>
        <a:buChar char="–"/>
        <a:defRPr kumimoji="1" sz="3300" kern="1200">
          <a:solidFill>
            <a:schemeClr val="tx1"/>
          </a:solidFill>
          <a:latin typeface="+mj-ea"/>
          <a:ea typeface="+mj-ea"/>
          <a:cs typeface="+mn-cs"/>
        </a:defRPr>
      </a:lvl2pPr>
      <a:lvl3pPr marL="1361656" indent="-272331" algn="l" defTabSz="1089325" rtl="0" eaLnBrk="1" latinLnBrk="0" hangingPunct="1">
        <a:spcBef>
          <a:spcPct val="20000"/>
        </a:spcBef>
        <a:buFont typeface="Arial" pitchFamily="34" charset="0"/>
        <a:buChar char="•"/>
        <a:defRPr kumimoji="1" sz="2900" kern="1200">
          <a:solidFill>
            <a:schemeClr val="tx1"/>
          </a:solidFill>
          <a:latin typeface="+mj-ea"/>
          <a:ea typeface="+mj-ea"/>
          <a:cs typeface="+mn-cs"/>
        </a:defRPr>
      </a:lvl3pPr>
      <a:lvl4pPr marL="1906318" indent="-272331" algn="l" defTabSz="1089325" rtl="0" eaLnBrk="1" latinLnBrk="0" hangingPunct="1">
        <a:spcBef>
          <a:spcPct val="20000"/>
        </a:spcBef>
        <a:buFont typeface="Arial" pitchFamily="34" charset="0"/>
        <a:buChar char="–"/>
        <a:defRPr kumimoji="1" sz="2400" kern="1200">
          <a:solidFill>
            <a:schemeClr val="tx1"/>
          </a:solidFill>
          <a:latin typeface="+mj-ea"/>
          <a:ea typeface="+mj-ea"/>
          <a:cs typeface="+mn-cs"/>
        </a:defRPr>
      </a:lvl4pPr>
      <a:lvl5pPr marL="2450981" indent="-272331" algn="l" defTabSz="1089325" rtl="0" eaLnBrk="1" latinLnBrk="0" hangingPunct="1">
        <a:spcBef>
          <a:spcPct val="20000"/>
        </a:spcBef>
        <a:buFont typeface="Arial" pitchFamily="34" charset="0"/>
        <a:buChar char="»"/>
        <a:defRPr kumimoji="1" sz="2400" kern="1200">
          <a:solidFill>
            <a:schemeClr val="tx1"/>
          </a:solidFill>
          <a:latin typeface="+mj-ea"/>
          <a:ea typeface="+mj-ea"/>
          <a:cs typeface="+mn-cs"/>
        </a:defRPr>
      </a:lvl5pPr>
      <a:lvl6pPr marL="2995643" indent="-272331" algn="l" defTabSz="1089325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305" indent="-272331" algn="l" defTabSz="1089325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68" indent="-272331" algn="l" defTabSz="1089325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630" indent="-272331" algn="l" defTabSz="1089325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662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325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987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49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312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974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637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299" algn="l" defTabSz="1089325" rtl="0" eaLnBrk="1" latinLnBrk="0" hangingPunct="1"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outer-network-traffic-flow-298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outer-network-traffic-flow-298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ublicdomainpictures.net/en/view-image.php?image=52893&amp;picture=handshake" TargetMode="Externa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outer-network-traffic-flow-298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outer-network-traffic-flow-298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outer-network-traffic-flow-298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outer-network-traffic-flow-298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router-network-traffic-flow-29825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0" Type="http://schemas.openxmlformats.org/officeDocument/2006/relationships/image" Target="../media/image23.pn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0" Type="http://schemas.openxmlformats.org/officeDocument/2006/relationships/image" Target="../media/image23.png"/><Relationship Id="rId4" Type="http://schemas.openxmlformats.org/officeDocument/2006/relationships/image" Target="../media/image17.jpe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4F492737-F51A-E57D-813E-E8B96797758D}"/>
              </a:ext>
            </a:extLst>
          </p:cNvPr>
          <p:cNvSpPr/>
          <p:nvPr/>
        </p:nvSpPr>
        <p:spPr>
          <a:xfrm>
            <a:off x="773758" y="2313670"/>
            <a:ext cx="2088232" cy="208823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>
                <a:solidFill>
                  <a:sysClr val="windowText" lastClr="000000"/>
                </a:solidFill>
              </a:rPr>
              <a:t>Publisher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78B8F79-1ECC-3FF1-92A9-FCA73566C381}"/>
              </a:ext>
            </a:extLst>
          </p:cNvPr>
          <p:cNvSpPr/>
          <p:nvPr/>
        </p:nvSpPr>
        <p:spPr>
          <a:xfrm>
            <a:off x="5958334" y="909514"/>
            <a:ext cx="2088232" cy="208823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>
                <a:solidFill>
                  <a:sysClr val="windowText" lastClr="000000"/>
                </a:solidFill>
              </a:rPr>
              <a:t>Subscriber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(amd64)</a:t>
            </a:r>
            <a:endParaRPr kumimoji="1"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E239FD-F2B9-CCD1-E4F6-9447CAED5BAE}"/>
              </a:ext>
            </a:extLst>
          </p:cNvPr>
          <p:cNvSpPr/>
          <p:nvPr/>
        </p:nvSpPr>
        <p:spPr>
          <a:xfrm>
            <a:off x="5958334" y="4005858"/>
            <a:ext cx="2088232" cy="2088232"/>
          </a:xfrm>
          <a:prstGeom prst="ellipse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>
                <a:solidFill>
                  <a:sysClr val="windowText" lastClr="000000"/>
                </a:solidFill>
              </a:rPr>
              <a:t>Subscriber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(arm64)</a:t>
            </a:r>
            <a:endParaRPr kumimoji="1" lang="en-US" dirty="0">
              <a:solidFill>
                <a:sysClr val="windowText" lastClr="000000"/>
              </a:solidFill>
            </a:endParaRPr>
          </a:p>
        </p:txBody>
      </p:sp>
      <p:sp>
        <p:nvSpPr>
          <p:cNvPr id="29" name="Flowchart: Punched Tape 28">
            <a:extLst>
              <a:ext uri="{FF2B5EF4-FFF2-40B4-BE49-F238E27FC236}">
                <a16:creationId xmlns:a16="http://schemas.microsoft.com/office/drawing/2014/main" id="{CF7AF4AC-BCD0-EA86-1095-C0A0A9293BE2}"/>
              </a:ext>
            </a:extLst>
          </p:cNvPr>
          <p:cNvSpPr/>
          <p:nvPr/>
        </p:nvSpPr>
        <p:spPr>
          <a:xfrm>
            <a:off x="3366046" y="2925738"/>
            <a:ext cx="2304256" cy="864096"/>
          </a:xfrm>
          <a:prstGeom prst="flowChartPunchedTape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dirty="0">
                <a:solidFill>
                  <a:sysClr val="windowText" lastClr="000000"/>
                </a:solidFill>
              </a:rPr>
              <a:t>topic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6DD815-1881-9D96-267A-B46E519600C8}"/>
              </a:ext>
            </a:extLst>
          </p:cNvPr>
          <p:cNvCxnSpPr>
            <a:stCxn id="3" idx="6"/>
            <a:endCxn id="29" idx="1"/>
          </p:cNvCxnSpPr>
          <p:nvPr/>
        </p:nvCxnSpPr>
        <p:spPr>
          <a:xfrm>
            <a:off x="2861990" y="3357786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C880348A-BA66-0DCF-3BBE-CEED44F9685E}"/>
              </a:ext>
            </a:extLst>
          </p:cNvPr>
          <p:cNvCxnSpPr>
            <a:cxnSpLocks/>
            <a:stCxn id="29" idx="3"/>
            <a:endCxn id="4" idx="3"/>
          </p:cNvCxnSpPr>
          <p:nvPr/>
        </p:nvCxnSpPr>
        <p:spPr>
          <a:xfrm flipV="1">
            <a:off x="5670302" y="2691932"/>
            <a:ext cx="593846" cy="6658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8E0308B2-6E18-4D96-313E-43AFA0FACB63}"/>
              </a:ext>
            </a:extLst>
          </p:cNvPr>
          <p:cNvCxnSpPr>
            <a:cxnSpLocks/>
            <a:stCxn id="29" idx="3"/>
            <a:endCxn id="6" idx="1"/>
          </p:cNvCxnSpPr>
          <p:nvPr/>
        </p:nvCxnSpPr>
        <p:spPr>
          <a:xfrm>
            <a:off x="5670302" y="3357786"/>
            <a:ext cx="593846" cy="95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A9F32066-BD3A-2FFC-8E34-9576FE9F6E0F}"/>
              </a:ext>
            </a:extLst>
          </p:cNvPr>
          <p:cNvSpPr txBox="1"/>
          <p:nvPr/>
        </p:nvSpPr>
        <p:spPr>
          <a:xfrm>
            <a:off x="2763182" y="3374336"/>
            <a:ext cx="7505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1kHz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F2D92ACF-6D99-F870-508E-70EB62CF5467}"/>
              </a:ext>
            </a:extLst>
          </p:cNvPr>
          <p:cNvSpPr txBox="1"/>
          <p:nvPr/>
        </p:nvSpPr>
        <p:spPr>
          <a:xfrm>
            <a:off x="6403967" y="2261505"/>
            <a:ext cx="47691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</a:rPr>
              <a:t>1kHz is just fine and required.</a:t>
            </a:r>
          </a:p>
          <a:p>
            <a:r>
              <a:rPr lang="en-US" sz="1600" b="1" dirty="0">
                <a:solidFill>
                  <a:srgbClr val="0000FF"/>
                </a:solidFill>
              </a:rPr>
              <a:t>Enough resource to process the incoming data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531CAB46-79A6-CC1A-8F48-BF19F63AE050}"/>
              </a:ext>
            </a:extLst>
          </p:cNvPr>
          <p:cNvSpPr txBox="1"/>
          <p:nvPr/>
        </p:nvSpPr>
        <p:spPr>
          <a:xfrm>
            <a:off x="6620269" y="3822933"/>
            <a:ext cx="4711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1kHz is way to heavy...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System lagging once subscription is created…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Need to set receiving rate on this subscription</a:t>
            </a:r>
          </a:p>
        </p:txBody>
      </p:sp>
    </p:spTree>
    <p:extLst>
      <p:ext uri="{BB962C8B-B14F-4D97-AF65-F5344CB8AC3E}">
        <p14:creationId xmlns:p14="http://schemas.microsoft.com/office/powerpoint/2010/main" val="91088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0A8C87-6E1D-AFE6-300F-FE9BA50BE085}"/>
              </a:ext>
            </a:extLst>
          </p:cNvPr>
          <p:cNvSpPr/>
          <p:nvPr/>
        </p:nvSpPr>
        <p:spPr>
          <a:xfrm>
            <a:off x="917774" y="1401895"/>
            <a:ext cx="4536504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76B551-515B-D7FD-89C4-31D2D6130A6E}"/>
              </a:ext>
            </a:extLst>
          </p:cNvPr>
          <p:cNvSpPr/>
          <p:nvPr/>
        </p:nvSpPr>
        <p:spPr>
          <a:xfrm>
            <a:off x="1277814" y="1629594"/>
            <a:ext cx="2952329" cy="1639634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B5F4F-F31A-52AB-74BF-9B47E3C92531}"/>
              </a:ext>
            </a:extLst>
          </p:cNvPr>
          <p:cNvSpPr/>
          <p:nvPr/>
        </p:nvSpPr>
        <p:spPr>
          <a:xfrm>
            <a:off x="917774" y="4257886"/>
            <a:ext cx="4536504" cy="46805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/>
              <a:t>WASI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D0E4D7-9789-2C96-9B7D-8BD2227B22A2}"/>
              </a:ext>
            </a:extLst>
          </p:cNvPr>
          <p:cNvSpPr/>
          <p:nvPr/>
        </p:nvSpPr>
        <p:spPr>
          <a:xfrm>
            <a:off x="917774" y="4971783"/>
            <a:ext cx="10225136" cy="46805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/>
              <a:t>Operating System / Platform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4D581F-85ED-5510-D605-94B5B83D86E3}"/>
              </a:ext>
            </a:extLst>
          </p:cNvPr>
          <p:cNvSpPr txBox="1"/>
          <p:nvPr/>
        </p:nvSpPr>
        <p:spPr>
          <a:xfrm>
            <a:off x="2429923" y="3593760"/>
            <a:ext cx="14782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wasmtime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D97D9F-9E8C-456D-DDCA-8C507D1E0C7C}"/>
              </a:ext>
            </a:extLst>
          </p:cNvPr>
          <p:cNvSpPr txBox="1"/>
          <p:nvPr/>
        </p:nvSpPr>
        <p:spPr>
          <a:xfrm>
            <a:off x="1375701" y="1502128"/>
            <a:ext cx="24223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component.wasm</a:t>
            </a:r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FC04E5-CBB2-977F-50DA-1712A14DB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935" y="1917626"/>
            <a:ext cx="997100" cy="9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E04E0A-17D6-5FF6-98DF-2C85B15184CB}"/>
              </a:ext>
            </a:extLst>
          </p:cNvPr>
          <p:cNvSpPr txBox="1"/>
          <p:nvPr/>
        </p:nvSpPr>
        <p:spPr>
          <a:xfrm>
            <a:off x="1565847" y="2853730"/>
            <a:ext cx="259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 </a:t>
            </a:r>
            <a:r>
              <a:rPr lang="en-US" dirty="0" err="1"/>
              <a:t>Wasm</a:t>
            </a:r>
            <a:r>
              <a:rPr lang="en-US" dirty="0"/>
              <a:t> Module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66F754-0BE7-1989-A057-D2E89AC5E16C}"/>
              </a:ext>
            </a:extLst>
          </p:cNvPr>
          <p:cNvSpPr/>
          <p:nvPr/>
        </p:nvSpPr>
        <p:spPr>
          <a:xfrm>
            <a:off x="4230143" y="1629594"/>
            <a:ext cx="792087" cy="163963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DB1815-D2EC-8823-FE51-2A6DEE25B42B}"/>
              </a:ext>
            </a:extLst>
          </p:cNvPr>
          <p:cNvSpPr txBox="1"/>
          <p:nvPr/>
        </p:nvSpPr>
        <p:spPr>
          <a:xfrm rot="16200000">
            <a:off x="4124696" y="2190860"/>
            <a:ext cx="10860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</a:t>
            </a:r>
          </a:p>
          <a:p>
            <a:pPr algn="ctr"/>
            <a:r>
              <a:rPr lang="en-US" dirty="0"/>
              <a:t>(World)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CC60D3-781A-4D68-4D47-F3E1A15D76A4}"/>
              </a:ext>
            </a:extLst>
          </p:cNvPr>
          <p:cNvSpPr/>
          <p:nvPr/>
        </p:nvSpPr>
        <p:spPr>
          <a:xfrm>
            <a:off x="6606406" y="1401895"/>
            <a:ext cx="4536504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E3C1DB-F310-359B-D34F-F40251AE4447}"/>
              </a:ext>
            </a:extLst>
          </p:cNvPr>
          <p:cNvSpPr/>
          <p:nvPr/>
        </p:nvSpPr>
        <p:spPr>
          <a:xfrm>
            <a:off x="7758533" y="1629594"/>
            <a:ext cx="2952329" cy="1639634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FB4890-F50F-2A82-5CF9-5A3ABDE50E12}"/>
              </a:ext>
            </a:extLst>
          </p:cNvPr>
          <p:cNvSpPr/>
          <p:nvPr/>
        </p:nvSpPr>
        <p:spPr>
          <a:xfrm>
            <a:off x="6606406" y="4257886"/>
            <a:ext cx="4536504" cy="46805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/>
              <a:t>WASI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569E3A-884C-52BC-CEDC-D4B72512CD83}"/>
              </a:ext>
            </a:extLst>
          </p:cNvPr>
          <p:cNvSpPr txBox="1"/>
          <p:nvPr/>
        </p:nvSpPr>
        <p:spPr>
          <a:xfrm>
            <a:off x="8118555" y="3593760"/>
            <a:ext cx="147829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wasmtime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1D9699-BDD4-C09C-12A3-B264524567B0}"/>
              </a:ext>
            </a:extLst>
          </p:cNvPr>
          <p:cNvSpPr txBox="1"/>
          <p:nvPr/>
        </p:nvSpPr>
        <p:spPr>
          <a:xfrm>
            <a:off x="8288468" y="1485578"/>
            <a:ext cx="24223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component.wasm</a:t>
            </a:r>
            <a:endParaRPr lang="en-US" dirty="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A899E438-9103-2DB2-0CA7-21CBAB994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8654" y="1917626"/>
            <a:ext cx="997100" cy="9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8DC4600-F8FC-A365-FDFE-319FF3F5BDC2}"/>
              </a:ext>
            </a:extLst>
          </p:cNvPr>
          <p:cNvSpPr txBox="1"/>
          <p:nvPr/>
        </p:nvSpPr>
        <p:spPr>
          <a:xfrm>
            <a:off x="8046566" y="2853730"/>
            <a:ext cx="259487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 </a:t>
            </a:r>
            <a:r>
              <a:rPr lang="en-US" dirty="0" err="1"/>
              <a:t>Wasm</a:t>
            </a:r>
            <a:r>
              <a:rPr lang="en-US" dirty="0"/>
              <a:t> Module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290FF8-B8C3-1A7D-83AF-0349FD532B1E}"/>
              </a:ext>
            </a:extLst>
          </p:cNvPr>
          <p:cNvSpPr/>
          <p:nvPr/>
        </p:nvSpPr>
        <p:spPr>
          <a:xfrm rot="10800000">
            <a:off x="6981244" y="1629594"/>
            <a:ext cx="792087" cy="163963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9EDE2A-9833-D418-FBBA-67D4D308EAD2}"/>
              </a:ext>
            </a:extLst>
          </p:cNvPr>
          <p:cNvSpPr txBox="1"/>
          <p:nvPr/>
        </p:nvSpPr>
        <p:spPr>
          <a:xfrm rot="5400000">
            <a:off x="6875798" y="2190860"/>
            <a:ext cx="10860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WIT</a:t>
            </a:r>
          </a:p>
          <a:p>
            <a:pPr algn="ctr"/>
            <a:r>
              <a:rPr lang="en-US" dirty="0"/>
              <a:t>(World)</a:t>
            </a: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396B63A-822F-D730-E4DC-FC1633AFBA71}"/>
              </a:ext>
            </a:extLst>
          </p:cNvPr>
          <p:cNvSpPr/>
          <p:nvPr/>
        </p:nvSpPr>
        <p:spPr>
          <a:xfrm>
            <a:off x="5022230" y="2367676"/>
            <a:ext cx="1944215" cy="468052"/>
          </a:xfrm>
          <a:prstGeom prst="leftRightArrow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F41F0-108C-8E44-3486-6B799F28A583}"/>
              </a:ext>
            </a:extLst>
          </p:cNvPr>
          <p:cNvSpPr txBox="1"/>
          <p:nvPr/>
        </p:nvSpPr>
        <p:spPr>
          <a:xfrm>
            <a:off x="5462073" y="2614425"/>
            <a:ext cx="11523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Import/</a:t>
            </a:r>
          </a:p>
          <a:p>
            <a:r>
              <a:rPr lang="en-US" dirty="0"/>
              <a:t>Export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BD493B-190E-68BF-C139-776E02F30857}"/>
              </a:ext>
            </a:extLst>
          </p:cNvPr>
          <p:cNvSpPr/>
          <p:nvPr/>
        </p:nvSpPr>
        <p:spPr>
          <a:xfrm>
            <a:off x="1277795" y="3269228"/>
            <a:ext cx="3744435" cy="387596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19725B-CDDE-0CFE-3D85-04360594CDCA}"/>
              </a:ext>
            </a:extLst>
          </p:cNvPr>
          <p:cNvSpPr/>
          <p:nvPr/>
        </p:nvSpPr>
        <p:spPr>
          <a:xfrm>
            <a:off x="6981244" y="3269228"/>
            <a:ext cx="3744435" cy="387596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71952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9CC60D3-781A-4D68-4D47-F3E1A15D76A4}"/>
              </a:ext>
            </a:extLst>
          </p:cNvPr>
          <p:cNvSpPr/>
          <p:nvPr/>
        </p:nvSpPr>
        <p:spPr>
          <a:xfrm>
            <a:off x="2845769" y="4022407"/>
            <a:ext cx="2887167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290FF8-B8C3-1A7D-83AF-0349FD532B1E}"/>
              </a:ext>
            </a:extLst>
          </p:cNvPr>
          <p:cNvSpPr/>
          <p:nvPr/>
        </p:nvSpPr>
        <p:spPr>
          <a:xfrm>
            <a:off x="3074591" y="5127123"/>
            <a:ext cx="2419071" cy="40745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EdgeCore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F41F0-108C-8E44-3486-6B799F28A583}"/>
              </a:ext>
            </a:extLst>
          </p:cNvPr>
          <p:cNvSpPr txBox="1"/>
          <p:nvPr/>
        </p:nvSpPr>
        <p:spPr>
          <a:xfrm>
            <a:off x="2845769" y="4022407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42FB1-11E5-8FFD-BA60-DD64755A90E1}"/>
              </a:ext>
            </a:extLst>
          </p:cNvPr>
          <p:cNvSpPr/>
          <p:nvPr/>
        </p:nvSpPr>
        <p:spPr>
          <a:xfrm>
            <a:off x="3074591" y="435555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BF68-90E4-3ABE-218D-FF2E89D97854}"/>
              </a:ext>
            </a:extLst>
          </p:cNvPr>
          <p:cNvSpPr/>
          <p:nvPr/>
        </p:nvSpPr>
        <p:spPr>
          <a:xfrm>
            <a:off x="3866679" y="435555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E6F43-8278-155D-BF91-ECEE812F3E4D}"/>
              </a:ext>
            </a:extLst>
          </p:cNvPr>
          <p:cNvSpPr/>
          <p:nvPr/>
        </p:nvSpPr>
        <p:spPr>
          <a:xfrm>
            <a:off x="4658766" y="4362859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Cilium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50A09C-ED2C-820D-3162-C9CEC756B18B}"/>
              </a:ext>
            </a:extLst>
          </p:cNvPr>
          <p:cNvSpPr/>
          <p:nvPr/>
        </p:nvSpPr>
        <p:spPr>
          <a:xfrm>
            <a:off x="6174358" y="4022407"/>
            <a:ext cx="2887167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1E4576-6A1F-50DA-2FA0-E7A9636C8E34}"/>
              </a:ext>
            </a:extLst>
          </p:cNvPr>
          <p:cNvSpPr/>
          <p:nvPr/>
        </p:nvSpPr>
        <p:spPr>
          <a:xfrm>
            <a:off x="6403180" y="5127123"/>
            <a:ext cx="2419071" cy="40745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EdgeCore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E4E51DE9-4266-536C-D2FF-52A6092D2DFF}"/>
              </a:ext>
            </a:extLst>
          </p:cNvPr>
          <p:cNvSpPr txBox="1"/>
          <p:nvPr/>
        </p:nvSpPr>
        <p:spPr>
          <a:xfrm>
            <a:off x="6174358" y="4022407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820E03B1-9B47-06F7-45AB-20869B74FD53}"/>
              </a:ext>
            </a:extLst>
          </p:cNvPr>
          <p:cNvSpPr/>
          <p:nvPr/>
        </p:nvSpPr>
        <p:spPr>
          <a:xfrm>
            <a:off x="6403180" y="435555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5B4161D5-355A-0D19-2A4D-A7EA00238A65}"/>
              </a:ext>
            </a:extLst>
          </p:cNvPr>
          <p:cNvSpPr/>
          <p:nvPr/>
        </p:nvSpPr>
        <p:spPr>
          <a:xfrm>
            <a:off x="7195268" y="435555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6F4C33FD-F886-8BA5-9865-2CEF2BA0D928}"/>
              </a:ext>
            </a:extLst>
          </p:cNvPr>
          <p:cNvSpPr/>
          <p:nvPr/>
        </p:nvSpPr>
        <p:spPr>
          <a:xfrm>
            <a:off x="7987355" y="4362859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Cilium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05957123-AFC5-28B4-1D24-6CC89DC54E5D}"/>
              </a:ext>
            </a:extLst>
          </p:cNvPr>
          <p:cNvSpPr/>
          <p:nvPr/>
        </p:nvSpPr>
        <p:spPr>
          <a:xfrm>
            <a:off x="3123918" y="1142087"/>
            <a:ext cx="5498712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906559DD-9AF3-EB0D-16B2-6B67D3A73F47}"/>
              </a:ext>
            </a:extLst>
          </p:cNvPr>
          <p:cNvSpPr/>
          <p:nvPr/>
        </p:nvSpPr>
        <p:spPr>
          <a:xfrm>
            <a:off x="3362624" y="2246803"/>
            <a:ext cx="4973164" cy="407452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kubelet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6433F19-2BE6-06F5-0D11-7AC8D8F1A9FB}"/>
              </a:ext>
            </a:extLst>
          </p:cNvPr>
          <p:cNvSpPr txBox="1"/>
          <p:nvPr/>
        </p:nvSpPr>
        <p:spPr>
          <a:xfrm>
            <a:off x="3123918" y="1142087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Cloud Node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4811619A-1D3B-F61D-BF17-8897E0F937D4}"/>
              </a:ext>
            </a:extLst>
          </p:cNvPr>
          <p:cNvSpPr/>
          <p:nvPr/>
        </p:nvSpPr>
        <p:spPr>
          <a:xfrm>
            <a:off x="5886326" y="1475234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Cilium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1BBC36C-ACEE-7F0A-1877-68711BAD33A6}"/>
              </a:ext>
            </a:extLst>
          </p:cNvPr>
          <p:cNvSpPr/>
          <p:nvPr/>
        </p:nvSpPr>
        <p:spPr>
          <a:xfrm>
            <a:off x="3362623" y="1565807"/>
            <a:ext cx="1433406" cy="680996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k</a:t>
            </a:r>
            <a:r>
              <a:rPr kumimoji="1" lang="en-US" sz="1800" dirty="0">
                <a:solidFill>
                  <a:schemeClr val="tx1"/>
                </a:solidFill>
              </a:rPr>
              <a:t>8s</a:t>
            </a:r>
          </a:p>
          <a:p>
            <a:pPr algn="ctr"/>
            <a:r>
              <a:rPr lang="en-US" sz="1800" dirty="0" err="1">
                <a:solidFill>
                  <a:schemeClr val="tx1"/>
                </a:solidFill>
              </a:rPr>
              <a:t>api</a:t>
            </a:r>
            <a:r>
              <a:rPr lang="en-US" sz="1800" dirty="0">
                <a:solidFill>
                  <a:schemeClr val="tx1"/>
                </a:solidFill>
              </a:rPr>
              <a:t>-server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0424EC6-3BA0-97C9-9827-845F5B9FCEA3}"/>
              </a:ext>
            </a:extLst>
          </p:cNvPr>
          <p:cNvSpPr/>
          <p:nvPr/>
        </p:nvSpPr>
        <p:spPr>
          <a:xfrm>
            <a:off x="4938331" y="1482539"/>
            <a:ext cx="834895" cy="67133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Cloud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Core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1D0D22C-04F3-223A-1A20-4A9D450F0053}"/>
              </a:ext>
            </a:extLst>
          </p:cNvPr>
          <p:cNvSpPr/>
          <p:nvPr/>
        </p:nvSpPr>
        <p:spPr>
          <a:xfrm>
            <a:off x="6894438" y="1482539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4FF7519-A3B7-63E5-6173-B5A577758B75}"/>
              </a:ext>
            </a:extLst>
          </p:cNvPr>
          <p:cNvSpPr/>
          <p:nvPr/>
        </p:nvSpPr>
        <p:spPr>
          <a:xfrm>
            <a:off x="7686526" y="1482539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pic>
        <p:nvPicPr>
          <p:cNvPr id="1046" name="Picture 1045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0D1E848A-B200-F4E5-DAB6-48E15C1E3C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23478" y="3148159"/>
            <a:ext cx="899592" cy="597854"/>
          </a:xfrm>
          <a:prstGeom prst="rect">
            <a:avLst/>
          </a:prstGeom>
        </p:spPr>
      </p:pic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5A0E7507-D864-AB3C-124D-386D29C43331}"/>
              </a:ext>
            </a:extLst>
          </p:cNvPr>
          <p:cNvCxnSpPr>
            <a:endCxn id="1046" idx="1"/>
          </p:cNvCxnSpPr>
          <p:nvPr/>
        </p:nvCxnSpPr>
        <p:spPr>
          <a:xfrm>
            <a:off x="2141910" y="3447086"/>
            <a:ext cx="3281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DEFAC821-BD9A-5C86-125B-DA910B82E1C4}"/>
              </a:ext>
            </a:extLst>
          </p:cNvPr>
          <p:cNvCxnSpPr>
            <a:cxnSpLocks/>
            <a:endCxn id="1046" idx="3"/>
          </p:cNvCxnSpPr>
          <p:nvPr/>
        </p:nvCxnSpPr>
        <p:spPr>
          <a:xfrm flipH="1" flipV="1">
            <a:off x="6323070" y="3447086"/>
            <a:ext cx="3667712" cy="15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92137BC1-5B52-3DA1-84C7-CD8E06B3686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284126" y="3447086"/>
            <a:ext cx="5227" cy="575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7D3FE936-1B0E-68AC-50B9-4AEC5E6768A8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7617942" y="3454902"/>
            <a:ext cx="0" cy="567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E96490D0-69EB-2E7F-7802-3D2D32EBCE47}"/>
              </a:ext>
            </a:extLst>
          </p:cNvPr>
          <p:cNvCxnSpPr>
            <a:cxnSpLocks/>
            <a:stCxn id="1046" idx="0"/>
            <a:endCxn id="1029" idx="2"/>
          </p:cNvCxnSpPr>
          <p:nvPr/>
        </p:nvCxnSpPr>
        <p:spPr>
          <a:xfrm flipV="1">
            <a:off x="5873274" y="2781722"/>
            <a:ext cx="0" cy="366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3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05957123-AFC5-28B4-1D24-6CC89DC54E5D}"/>
              </a:ext>
            </a:extLst>
          </p:cNvPr>
          <p:cNvSpPr/>
          <p:nvPr/>
        </p:nvSpPr>
        <p:spPr>
          <a:xfrm>
            <a:off x="2172179" y="261442"/>
            <a:ext cx="2609018" cy="23137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6433F19-2BE6-06F5-0D11-7AC8D8F1A9FB}"/>
              </a:ext>
            </a:extLst>
          </p:cNvPr>
          <p:cNvSpPr txBox="1"/>
          <p:nvPr/>
        </p:nvSpPr>
        <p:spPr>
          <a:xfrm>
            <a:off x="2299702" y="33344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Cloud Node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4811619A-1D3B-F61D-BF17-8897E0F937D4}"/>
              </a:ext>
            </a:extLst>
          </p:cNvPr>
          <p:cNvSpPr/>
          <p:nvPr/>
        </p:nvSpPr>
        <p:spPr>
          <a:xfrm>
            <a:off x="2431825" y="2045266"/>
            <a:ext cx="2098933" cy="34450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Cilium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0424EC6-3BA0-97C9-9827-845F5B9FCEA3}"/>
              </a:ext>
            </a:extLst>
          </p:cNvPr>
          <p:cNvSpPr/>
          <p:nvPr/>
        </p:nvSpPr>
        <p:spPr>
          <a:xfrm>
            <a:off x="2427080" y="1485577"/>
            <a:ext cx="2080479" cy="46676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Wireguard</a:t>
            </a:r>
            <a:r>
              <a:rPr lang="en-US" sz="1600" dirty="0">
                <a:solidFill>
                  <a:schemeClr val="tx1"/>
                </a:solidFill>
              </a:rPr>
              <a:t> VPN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1D0D22C-04F3-223A-1A20-4A9D450F0053}"/>
              </a:ext>
            </a:extLst>
          </p:cNvPr>
          <p:cNvSpPr/>
          <p:nvPr/>
        </p:nvSpPr>
        <p:spPr>
          <a:xfrm>
            <a:off x="2524804" y="697299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pic>
        <p:nvPicPr>
          <p:cNvPr id="1046" name="Picture 1045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0D1E848A-B200-F4E5-DAB6-48E15C1E3C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026892" y="3059046"/>
            <a:ext cx="899592" cy="597854"/>
          </a:xfrm>
          <a:prstGeom prst="rect">
            <a:avLst/>
          </a:prstGeom>
        </p:spPr>
      </p:pic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5A0E7507-D864-AB3C-124D-386D29C43331}"/>
              </a:ext>
            </a:extLst>
          </p:cNvPr>
          <p:cNvCxnSpPr>
            <a:cxnSpLocks/>
            <a:endCxn id="1046" idx="1"/>
          </p:cNvCxnSpPr>
          <p:nvPr/>
        </p:nvCxnSpPr>
        <p:spPr>
          <a:xfrm>
            <a:off x="1252805" y="3357973"/>
            <a:ext cx="17740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DEFAC821-BD9A-5C86-125B-DA910B82E1C4}"/>
              </a:ext>
            </a:extLst>
          </p:cNvPr>
          <p:cNvCxnSpPr>
            <a:cxnSpLocks/>
            <a:endCxn id="1046" idx="3"/>
          </p:cNvCxnSpPr>
          <p:nvPr/>
        </p:nvCxnSpPr>
        <p:spPr>
          <a:xfrm flipH="1" flipV="1">
            <a:off x="3926484" y="3357973"/>
            <a:ext cx="1815826" cy="7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E96490D0-69EB-2E7F-7802-3D2D32EBCE47}"/>
              </a:ext>
            </a:extLst>
          </p:cNvPr>
          <p:cNvCxnSpPr>
            <a:cxnSpLocks/>
            <a:stCxn id="1046" idx="0"/>
            <a:endCxn id="1029" idx="2"/>
          </p:cNvCxnSpPr>
          <p:nvPr/>
        </p:nvCxnSpPr>
        <p:spPr>
          <a:xfrm flipV="1">
            <a:off x="3476688" y="2575177"/>
            <a:ext cx="0" cy="483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CA58B0C5-D070-7317-A982-75369E6D1FE4}"/>
              </a:ext>
            </a:extLst>
          </p:cNvPr>
          <p:cNvSpPr/>
          <p:nvPr/>
        </p:nvSpPr>
        <p:spPr>
          <a:xfrm>
            <a:off x="3583563" y="693489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0F94CB-E9D0-316F-861B-5902317D1CE8}"/>
              </a:ext>
            </a:extLst>
          </p:cNvPr>
          <p:cNvSpPr/>
          <p:nvPr/>
        </p:nvSpPr>
        <p:spPr>
          <a:xfrm>
            <a:off x="2172179" y="4140394"/>
            <a:ext cx="2609018" cy="23137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435EE-E405-0F95-6A6F-61ABCCF51B06}"/>
              </a:ext>
            </a:extLst>
          </p:cNvPr>
          <p:cNvSpPr txBox="1"/>
          <p:nvPr/>
        </p:nvSpPr>
        <p:spPr>
          <a:xfrm>
            <a:off x="2299702" y="4212401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93DBF5-57C0-4161-A34F-D17A6AA94BA5}"/>
              </a:ext>
            </a:extLst>
          </p:cNvPr>
          <p:cNvSpPr/>
          <p:nvPr/>
        </p:nvSpPr>
        <p:spPr>
          <a:xfrm>
            <a:off x="2431825" y="5924218"/>
            <a:ext cx="2098933" cy="34450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Cilium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0A57C-E99D-C9FD-5B51-9D375E5D778B}"/>
              </a:ext>
            </a:extLst>
          </p:cNvPr>
          <p:cNvSpPr/>
          <p:nvPr/>
        </p:nvSpPr>
        <p:spPr>
          <a:xfrm>
            <a:off x="2427080" y="5364529"/>
            <a:ext cx="2080479" cy="46676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Wireguard</a:t>
            </a:r>
            <a:r>
              <a:rPr lang="en-US" sz="1600" dirty="0">
                <a:solidFill>
                  <a:schemeClr val="tx1"/>
                </a:solidFill>
              </a:rPr>
              <a:t> VPN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259235-D54F-B196-B5D7-76045E2E71B4}"/>
              </a:ext>
            </a:extLst>
          </p:cNvPr>
          <p:cNvSpPr/>
          <p:nvPr/>
        </p:nvSpPr>
        <p:spPr>
          <a:xfrm>
            <a:off x="2524804" y="4576251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A96965-163E-D2EB-1BFE-FD3CAF4E6403}"/>
              </a:ext>
            </a:extLst>
          </p:cNvPr>
          <p:cNvSpPr/>
          <p:nvPr/>
        </p:nvSpPr>
        <p:spPr>
          <a:xfrm>
            <a:off x="3583563" y="4572441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A15B67C-4CCC-239E-4A05-E5336B559BD8}"/>
              </a:ext>
            </a:extLst>
          </p:cNvPr>
          <p:cNvCxnSpPr>
            <a:cxnSpLocks/>
            <a:stCxn id="10" idx="0"/>
            <a:endCxn id="1046" idx="2"/>
          </p:cNvCxnSpPr>
          <p:nvPr/>
        </p:nvCxnSpPr>
        <p:spPr>
          <a:xfrm flipV="1">
            <a:off x="3476688" y="3656900"/>
            <a:ext cx="0" cy="483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86D6102-435E-917F-0229-C0D9ED6140EF}"/>
              </a:ext>
            </a:extLst>
          </p:cNvPr>
          <p:cNvSpPr txBox="1"/>
          <p:nvPr/>
        </p:nvSpPr>
        <p:spPr>
          <a:xfrm>
            <a:off x="1405963" y="3118692"/>
            <a:ext cx="178747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Internet/NAT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62591CD-9013-EE1B-944F-CBF3799968A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>
            <a:off x="4006164" y="1423774"/>
            <a:ext cx="0" cy="3148667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B5F576C-9A46-99C7-D0ED-E8CF32201553}"/>
              </a:ext>
            </a:extLst>
          </p:cNvPr>
          <p:cNvSpPr txBox="1"/>
          <p:nvPr/>
        </p:nvSpPr>
        <p:spPr>
          <a:xfrm>
            <a:off x="4073840" y="2565697"/>
            <a:ext cx="16684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chemeClr val="accent5"/>
                </a:solidFill>
              </a:rPr>
              <a:t>Application</a:t>
            </a:r>
          </a:p>
          <a:p>
            <a:r>
              <a:rPr lang="en-US" b="1" i="1" u="sng" dirty="0">
                <a:solidFill>
                  <a:schemeClr val="accent5"/>
                </a:solidFill>
              </a:rPr>
              <a:t>Data-Plane</a:t>
            </a: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91B7B3E-1E2F-286D-CD32-FDC968AEB748}"/>
              </a:ext>
            </a:extLst>
          </p:cNvPr>
          <p:cNvSpPr/>
          <p:nvPr/>
        </p:nvSpPr>
        <p:spPr>
          <a:xfrm>
            <a:off x="7232895" y="266906"/>
            <a:ext cx="2609018" cy="23137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AA9F5247-18B8-C09A-510C-008F3C7FE664}"/>
              </a:ext>
            </a:extLst>
          </p:cNvPr>
          <p:cNvSpPr txBox="1"/>
          <p:nvPr/>
        </p:nvSpPr>
        <p:spPr>
          <a:xfrm>
            <a:off x="7360418" y="338913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Cloud Node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B7E1AF7-4B5F-5BAB-40BC-015DD2EEAABB}"/>
              </a:ext>
            </a:extLst>
          </p:cNvPr>
          <p:cNvSpPr/>
          <p:nvPr/>
        </p:nvSpPr>
        <p:spPr>
          <a:xfrm>
            <a:off x="7492541" y="2050730"/>
            <a:ext cx="2098933" cy="34450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Cilium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2E3F5E38-91D2-E0EF-9205-0AD4557C517B}"/>
              </a:ext>
            </a:extLst>
          </p:cNvPr>
          <p:cNvSpPr/>
          <p:nvPr/>
        </p:nvSpPr>
        <p:spPr>
          <a:xfrm>
            <a:off x="7487796" y="1491041"/>
            <a:ext cx="2080479" cy="46676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Wireguard</a:t>
            </a:r>
            <a:r>
              <a:rPr lang="en-US" sz="1600" dirty="0">
                <a:solidFill>
                  <a:schemeClr val="tx1"/>
                </a:solidFill>
              </a:rPr>
              <a:t> VPN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77AF387-BF37-3285-94EE-6123013E9A71}"/>
              </a:ext>
            </a:extLst>
          </p:cNvPr>
          <p:cNvSpPr/>
          <p:nvPr/>
        </p:nvSpPr>
        <p:spPr>
          <a:xfrm>
            <a:off x="7585520" y="702763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pic>
        <p:nvPicPr>
          <p:cNvPr id="1038" name="Picture 1037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AAFB40F0-26D4-0B0A-6E9F-435A176685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87608" y="3064510"/>
            <a:ext cx="899592" cy="597854"/>
          </a:xfrm>
          <a:prstGeom prst="rect">
            <a:avLst/>
          </a:prstGeom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C8C609D8-55C5-CC1D-9477-79AA3F2755F4}"/>
              </a:ext>
            </a:extLst>
          </p:cNvPr>
          <p:cNvCxnSpPr>
            <a:cxnSpLocks/>
            <a:endCxn id="1038" idx="1"/>
          </p:cNvCxnSpPr>
          <p:nvPr/>
        </p:nvCxnSpPr>
        <p:spPr>
          <a:xfrm>
            <a:off x="6313521" y="3363437"/>
            <a:ext cx="17740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BB2C0092-BAD0-1F92-6197-010E28FF779E}"/>
              </a:ext>
            </a:extLst>
          </p:cNvPr>
          <p:cNvCxnSpPr>
            <a:cxnSpLocks/>
            <a:endCxn id="1038" idx="3"/>
          </p:cNvCxnSpPr>
          <p:nvPr/>
        </p:nvCxnSpPr>
        <p:spPr>
          <a:xfrm flipH="1" flipV="1">
            <a:off x="8987200" y="3363437"/>
            <a:ext cx="1815826" cy="77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353809A2-88CF-6E07-BCFF-7F0701CD858D}"/>
              </a:ext>
            </a:extLst>
          </p:cNvPr>
          <p:cNvCxnSpPr>
            <a:cxnSpLocks/>
            <a:stCxn id="1038" idx="0"/>
            <a:endCxn id="1032" idx="2"/>
          </p:cNvCxnSpPr>
          <p:nvPr/>
        </p:nvCxnSpPr>
        <p:spPr>
          <a:xfrm flipV="1">
            <a:off x="8537404" y="2580641"/>
            <a:ext cx="0" cy="483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C11766B-59F2-9F79-540A-72BF497A49D7}"/>
              </a:ext>
            </a:extLst>
          </p:cNvPr>
          <p:cNvSpPr/>
          <p:nvPr/>
        </p:nvSpPr>
        <p:spPr>
          <a:xfrm>
            <a:off x="8644279" y="698953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545280DA-4FAE-0132-6BD3-BC4980FEBBD8}"/>
              </a:ext>
            </a:extLst>
          </p:cNvPr>
          <p:cNvSpPr/>
          <p:nvPr/>
        </p:nvSpPr>
        <p:spPr>
          <a:xfrm>
            <a:off x="7232895" y="4145858"/>
            <a:ext cx="2609018" cy="23137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CF5AAF7-FECF-53A7-F0C9-6503BB69498B}"/>
              </a:ext>
            </a:extLst>
          </p:cNvPr>
          <p:cNvSpPr txBox="1"/>
          <p:nvPr/>
        </p:nvSpPr>
        <p:spPr>
          <a:xfrm>
            <a:off x="7360418" y="4217865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845794F2-9153-FDFA-A91B-3C319C1BD790}"/>
              </a:ext>
            </a:extLst>
          </p:cNvPr>
          <p:cNvSpPr/>
          <p:nvPr/>
        </p:nvSpPr>
        <p:spPr>
          <a:xfrm>
            <a:off x="7492541" y="5929682"/>
            <a:ext cx="2098933" cy="34450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Cilium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02FFF487-BE73-FD2E-1E1E-01BE17AE145D}"/>
              </a:ext>
            </a:extLst>
          </p:cNvPr>
          <p:cNvSpPr/>
          <p:nvPr/>
        </p:nvSpPr>
        <p:spPr>
          <a:xfrm>
            <a:off x="7487796" y="5369993"/>
            <a:ext cx="2080479" cy="466761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Wireguard</a:t>
            </a:r>
            <a:r>
              <a:rPr lang="en-US" sz="1600" dirty="0">
                <a:solidFill>
                  <a:schemeClr val="tx1"/>
                </a:solidFill>
              </a:rPr>
              <a:t> VPN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2D207A64-D979-59E7-50C6-8917EBB20384}"/>
              </a:ext>
            </a:extLst>
          </p:cNvPr>
          <p:cNvSpPr/>
          <p:nvPr/>
        </p:nvSpPr>
        <p:spPr>
          <a:xfrm>
            <a:off x="7585520" y="4581715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54B78C1-2589-F749-E72E-4ABC9B94023D}"/>
              </a:ext>
            </a:extLst>
          </p:cNvPr>
          <p:cNvSpPr/>
          <p:nvPr/>
        </p:nvSpPr>
        <p:spPr>
          <a:xfrm>
            <a:off x="8644279" y="4577905"/>
            <a:ext cx="845202" cy="73028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CE858F53-77FD-D84A-DFE4-2F6E9BBDD285}"/>
              </a:ext>
            </a:extLst>
          </p:cNvPr>
          <p:cNvCxnSpPr>
            <a:cxnSpLocks/>
            <a:stCxn id="1050" idx="0"/>
            <a:endCxn id="1038" idx="2"/>
          </p:cNvCxnSpPr>
          <p:nvPr/>
        </p:nvCxnSpPr>
        <p:spPr>
          <a:xfrm flipV="1">
            <a:off x="8537404" y="3662364"/>
            <a:ext cx="0" cy="483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76FBCC0-A984-6F40-B2C1-3FD2DB0535C9}"/>
              </a:ext>
            </a:extLst>
          </p:cNvPr>
          <p:cNvSpPr txBox="1"/>
          <p:nvPr/>
        </p:nvSpPr>
        <p:spPr>
          <a:xfrm>
            <a:off x="6466679" y="3124156"/>
            <a:ext cx="178747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Internet/NAT</a:t>
            </a:r>
          </a:p>
        </p:txBody>
      </p: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75F87397-A723-B073-39C2-64CD69D2997D}"/>
              </a:ext>
            </a:extLst>
          </p:cNvPr>
          <p:cNvCxnSpPr>
            <a:stCxn id="1047" idx="2"/>
            <a:endCxn id="1057" idx="0"/>
          </p:cNvCxnSpPr>
          <p:nvPr/>
        </p:nvCxnSpPr>
        <p:spPr>
          <a:xfrm>
            <a:off x="9066880" y="1429238"/>
            <a:ext cx="0" cy="3148667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F10F7DC0-97A1-8D0F-48C4-AFC39345FA94}"/>
              </a:ext>
            </a:extLst>
          </p:cNvPr>
          <p:cNvSpPr txBox="1"/>
          <p:nvPr/>
        </p:nvSpPr>
        <p:spPr>
          <a:xfrm>
            <a:off x="9134556" y="2571161"/>
            <a:ext cx="16684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solidFill>
                  <a:schemeClr val="accent5"/>
                </a:solidFill>
              </a:rPr>
              <a:t>Application</a:t>
            </a:r>
          </a:p>
          <a:p>
            <a:r>
              <a:rPr lang="en-US" b="1" i="1" u="sng" dirty="0">
                <a:solidFill>
                  <a:schemeClr val="accent5"/>
                </a:solidFill>
              </a:rPr>
              <a:t>Data-Plane</a:t>
            </a:r>
          </a:p>
        </p:txBody>
      </p:sp>
      <p:pic>
        <p:nvPicPr>
          <p:cNvPr id="1063" name="Picture 2" descr="赤色の×マークイラスト素材透過png">
            <a:extLst>
              <a:ext uri="{FF2B5EF4-FFF2-40B4-BE49-F238E27FC236}">
                <a16:creationId xmlns:a16="http://schemas.microsoft.com/office/drawing/2014/main" id="{EA80019D-2B12-4EAD-1695-0152A316A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389" y="3218882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83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8610FE6-BF7A-8093-1FB3-08EC642FA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50" y="2221928"/>
            <a:ext cx="6457242" cy="201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KubeEdge, a Kubernetes Native Edge Computing Framework | Kubernetes">
            <a:extLst>
              <a:ext uri="{FF2B5EF4-FFF2-40B4-BE49-F238E27FC236}">
                <a16:creationId xmlns:a16="http://schemas.microsoft.com/office/drawing/2014/main" id="{F1A6F0A6-B5EE-4688-E38E-AE5466E57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38" y="2277666"/>
            <a:ext cx="2257425" cy="196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hands shaking with a white background&#10;&#10;Description automatically generated">
            <a:extLst>
              <a:ext uri="{FF2B5EF4-FFF2-40B4-BE49-F238E27FC236}">
                <a16:creationId xmlns:a16="http://schemas.microsoft.com/office/drawing/2014/main" id="{A974AEC9-E30F-837C-6BA8-A0392B9452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551463" y="2954028"/>
            <a:ext cx="886167" cy="76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32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fluentd - Official Image | Docker Hub">
            <a:extLst>
              <a:ext uri="{FF2B5EF4-FFF2-40B4-BE49-F238E27FC236}">
                <a16:creationId xmlns:a16="http://schemas.microsoft.com/office/drawing/2014/main" id="{85FBAF19-B29E-5D69-1C2A-DDFC02AF0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506" y="2055982"/>
            <a:ext cx="888270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334B91-2D64-E06C-2554-9C07BD331F0A}"/>
              </a:ext>
            </a:extLst>
          </p:cNvPr>
          <p:cNvSpPr/>
          <p:nvPr/>
        </p:nvSpPr>
        <p:spPr>
          <a:xfrm>
            <a:off x="1581665" y="4819432"/>
            <a:ext cx="2887167" cy="147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F5C4FD-6EA0-2134-DDBF-FDEC4B9AA505}"/>
              </a:ext>
            </a:extLst>
          </p:cNvPr>
          <p:cNvSpPr/>
          <p:nvPr/>
        </p:nvSpPr>
        <p:spPr>
          <a:xfrm>
            <a:off x="1810487" y="5806058"/>
            <a:ext cx="2419071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600" b="1" dirty="0">
                <a:solidFill>
                  <a:schemeClr val="tx1"/>
                </a:solidFill>
              </a:rPr>
              <a:t>ROS 2 system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(</a:t>
            </a:r>
            <a:r>
              <a:rPr lang="en-US" sz="1600" b="1" dirty="0" err="1">
                <a:solidFill>
                  <a:schemeClr val="tx1"/>
                </a:solidFill>
              </a:rPr>
              <a:t>rcl_logging_syslog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  <a:endParaRPr kumimoji="1"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533ADD-D041-8008-A70B-AED60594F23D}"/>
              </a:ext>
            </a:extLst>
          </p:cNvPr>
          <p:cNvSpPr txBox="1"/>
          <p:nvPr/>
        </p:nvSpPr>
        <p:spPr>
          <a:xfrm>
            <a:off x="1581665" y="4819432"/>
            <a:ext cx="1491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Robot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2E5663-B2F4-378D-8D92-48566775CDAD}"/>
              </a:ext>
            </a:extLst>
          </p:cNvPr>
          <p:cNvSpPr/>
          <p:nvPr/>
        </p:nvSpPr>
        <p:spPr>
          <a:xfrm>
            <a:off x="1810487" y="507563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ROS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App</a:t>
            </a:r>
            <a:endParaRPr kumimoji="1"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D5FE1D-CEFB-1392-1C3A-FDD8EA4037E1}"/>
              </a:ext>
            </a:extLst>
          </p:cNvPr>
          <p:cNvSpPr/>
          <p:nvPr/>
        </p:nvSpPr>
        <p:spPr>
          <a:xfrm>
            <a:off x="2602575" y="507563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ROS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App</a:t>
            </a:r>
            <a:endParaRPr kumimoji="1" lang="en-US" sz="12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38992D-55CB-B225-CDBB-5BC587BB9E12}"/>
              </a:ext>
            </a:extLst>
          </p:cNvPr>
          <p:cNvSpPr/>
          <p:nvPr/>
        </p:nvSpPr>
        <p:spPr>
          <a:xfrm>
            <a:off x="3394662" y="5082939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rsyslog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1030" name="Picture 6" descr="rsyslog and closely related libraries · GitHub">
            <a:extLst>
              <a:ext uri="{FF2B5EF4-FFF2-40B4-BE49-F238E27FC236}">
                <a16:creationId xmlns:a16="http://schemas.microsoft.com/office/drawing/2014/main" id="{B77E914C-7CE5-F29A-103B-1E32576CC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464" y="4950555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EDC882E-4BB1-0934-E612-F4A2828E4788}"/>
              </a:ext>
            </a:extLst>
          </p:cNvPr>
          <p:cNvCxnSpPr>
            <a:cxnSpLocks/>
            <a:stCxn id="8" idx="2"/>
            <a:endCxn id="10" idx="2"/>
          </p:cNvCxnSpPr>
          <p:nvPr/>
        </p:nvCxnSpPr>
        <p:spPr>
          <a:xfrm rot="16200000" flipH="1">
            <a:off x="2969962" y="4912126"/>
            <a:ext cx="7305" cy="1676992"/>
          </a:xfrm>
          <a:prstGeom prst="bentConnector3">
            <a:avLst>
              <a:gd name="adj1" fmla="val 3229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DB1CC84-631B-4A54-D850-FDFD22C240B6}"/>
              </a:ext>
            </a:extLst>
          </p:cNvPr>
          <p:cNvCxnSpPr>
            <a:cxnSpLocks/>
            <a:stCxn id="9" idx="2"/>
            <a:endCxn id="10" idx="2"/>
          </p:cNvCxnSpPr>
          <p:nvPr/>
        </p:nvCxnSpPr>
        <p:spPr>
          <a:xfrm rot="16200000" flipH="1">
            <a:off x="3366006" y="5308170"/>
            <a:ext cx="7305" cy="884904"/>
          </a:xfrm>
          <a:prstGeom prst="bentConnector3">
            <a:avLst>
              <a:gd name="adj1" fmla="val 3229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7B06135-80F7-7877-4A01-58D1A07F93FA}"/>
              </a:ext>
            </a:extLst>
          </p:cNvPr>
          <p:cNvSpPr/>
          <p:nvPr/>
        </p:nvSpPr>
        <p:spPr>
          <a:xfrm>
            <a:off x="4738684" y="4819432"/>
            <a:ext cx="2887167" cy="147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6BEBD-1C3C-5CCF-E9EA-B5D419EC4A72}"/>
              </a:ext>
            </a:extLst>
          </p:cNvPr>
          <p:cNvSpPr/>
          <p:nvPr/>
        </p:nvSpPr>
        <p:spPr>
          <a:xfrm>
            <a:off x="4967506" y="5806058"/>
            <a:ext cx="2419071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600" b="1" dirty="0">
                <a:solidFill>
                  <a:schemeClr val="tx1"/>
                </a:solidFill>
              </a:rPr>
              <a:t>ROS 2 system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(</a:t>
            </a:r>
            <a:r>
              <a:rPr lang="en-US" sz="1600" b="1" dirty="0" err="1">
                <a:solidFill>
                  <a:schemeClr val="tx1"/>
                </a:solidFill>
              </a:rPr>
              <a:t>rcl_logging_syslog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  <a:endParaRPr kumimoji="1" lang="en-US" sz="1600" b="1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C57AFB-BEB9-FC68-CAF3-C7184EC44740}"/>
              </a:ext>
            </a:extLst>
          </p:cNvPr>
          <p:cNvSpPr txBox="1"/>
          <p:nvPr/>
        </p:nvSpPr>
        <p:spPr>
          <a:xfrm>
            <a:off x="4738684" y="4819432"/>
            <a:ext cx="1491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Robot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46139E-97CC-5903-946A-2670C0BED51B}"/>
              </a:ext>
            </a:extLst>
          </p:cNvPr>
          <p:cNvSpPr/>
          <p:nvPr/>
        </p:nvSpPr>
        <p:spPr>
          <a:xfrm>
            <a:off x="4967506" y="507563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ROS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App</a:t>
            </a:r>
            <a:endParaRPr kumimoji="1"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1F15DF-30B7-AF72-37F9-41EC85401B15}"/>
              </a:ext>
            </a:extLst>
          </p:cNvPr>
          <p:cNvSpPr/>
          <p:nvPr/>
        </p:nvSpPr>
        <p:spPr>
          <a:xfrm>
            <a:off x="5759594" y="507563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ROS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App</a:t>
            </a:r>
            <a:endParaRPr kumimoji="1" lang="en-US" sz="1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934EFD-7B36-654F-5993-27E292886398}"/>
              </a:ext>
            </a:extLst>
          </p:cNvPr>
          <p:cNvSpPr/>
          <p:nvPr/>
        </p:nvSpPr>
        <p:spPr>
          <a:xfrm>
            <a:off x="6551681" y="5082939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rsyslog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25" name="Picture 6" descr="rsyslog and closely related libraries · GitHub">
            <a:extLst>
              <a:ext uri="{FF2B5EF4-FFF2-40B4-BE49-F238E27FC236}">
                <a16:creationId xmlns:a16="http://schemas.microsoft.com/office/drawing/2014/main" id="{F621FFC8-31DA-0B75-B855-7D42CC85F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483" y="4950555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6F2B8E0-5CF7-1DF6-9CC9-8F321FD35DDE}"/>
              </a:ext>
            </a:extLst>
          </p:cNvPr>
          <p:cNvCxnSpPr>
            <a:cxnSpLocks/>
            <a:stCxn id="22" idx="2"/>
            <a:endCxn id="24" idx="2"/>
          </p:cNvCxnSpPr>
          <p:nvPr/>
        </p:nvCxnSpPr>
        <p:spPr>
          <a:xfrm rot="16200000" flipH="1">
            <a:off x="6126981" y="4912126"/>
            <a:ext cx="7305" cy="1676992"/>
          </a:xfrm>
          <a:prstGeom prst="bentConnector3">
            <a:avLst>
              <a:gd name="adj1" fmla="val 3229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3BB6533-6DF0-4D93-CB60-2940AB00936A}"/>
              </a:ext>
            </a:extLst>
          </p:cNvPr>
          <p:cNvCxnSpPr>
            <a:cxnSpLocks/>
            <a:stCxn id="23" idx="2"/>
            <a:endCxn id="24" idx="2"/>
          </p:cNvCxnSpPr>
          <p:nvPr/>
        </p:nvCxnSpPr>
        <p:spPr>
          <a:xfrm rot="16200000" flipH="1">
            <a:off x="6523025" y="5308170"/>
            <a:ext cx="7305" cy="884904"/>
          </a:xfrm>
          <a:prstGeom prst="bentConnector3">
            <a:avLst>
              <a:gd name="adj1" fmla="val 3229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D72634F-BC26-3444-DA0C-5086416727E0}"/>
              </a:ext>
            </a:extLst>
          </p:cNvPr>
          <p:cNvSpPr/>
          <p:nvPr/>
        </p:nvSpPr>
        <p:spPr>
          <a:xfrm>
            <a:off x="7895703" y="4819432"/>
            <a:ext cx="2887167" cy="147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376C95-4C4C-16EB-C9FF-72B9606616FB}"/>
              </a:ext>
            </a:extLst>
          </p:cNvPr>
          <p:cNvSpPr/>
          <p:nvPr/>
        </p:nvSpPr>
        <p:spPr>
          <a:xfrm>
            <a:off x="8124525" y="5806058"/>
            <a:ext cx="2419071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600" b="1" dirty="0">
                <a:solidFill>
                  <a:schemeClr val="tx1"/>
                </a:solidFill>
              </a:rPr>
              <a:t>ROS 2 system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(</a:t>
            </a:r>
            <a:r>
              <a:rPr lang="en-US" sz="1600" b="1" dirty="0" err="1">
                <a:solidFill>
                  <a:schemeClr val="tx1"/>
                </a:solidFill>
              </a:rPr>
              <a:t>rcl_logging_syslog</a:t>
            </a:r>
            <a:r>
              <a:rPr lang="en-US" sz="1600" b="1" dirty="0">
                <a:solidFill>
                  <a:schemeClr val="tx1"/>
                </a:solidFill>
              </a:rPr>
              <a:t>)</a:t>
            </a:r>
            <a:endParaRPr kumimoji="1" lang="en-US" sz="1600" b="1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2DFB5D-1667-DF46-357E-B4163AEE7BB5}"/>
              </a:ext>
            </a:extLst>
          </p:cNvPr>
          <p:cNvSpPr txBox="1"/>
          <p:nvPr/>
        </p:nvSpPr>
        <p:spPr>
          <a:xfrm>
            <a:off x="7895703" y="4819432"/>
            <a:ext cx="1491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Robot System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B3751B-155A-2B2D-AE73-7BDA8F0DE4BF}"/>
              </a:ext>
            </a:extLst>
          </p:cNvPr>
          <p:cNvSpPr/>
          <p:nvPr/>
        </p:nvSpPr>
        <p:spPr>
          <a:xfrm>
            <a:off x="8124525" y="507563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ROS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App</a:t>
            </a:r>
            <a:endParaRPr kumimoji="1" lang="en-US" sz="1200" dirty="0">
              <a:solidFill>
                <a:schemeClr val="tx1"/>
              </a:solidFill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11E7C30F-982E-CE90-7C91-99F87948CFD5}"/>
              </a:ext>
            </a:extLst>
          </p:cNvPr>
          <p:cNvSpPr/>
          <p:nvPr/>
        </p:nvSpPr>
        <p:spPr>
          <a:xfrm>
            <a:off x="8916613" y="5075634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ROS 2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App</a:t>
            </a:r>
            <a:endParaRPr kumimoji="1" lang="en-US" sz="1200" dirty="0">
              <a:solidFill>
                <a:schemeClr val="tx1"/>
              </a:solidFill>
            </a:endParaRP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00D6235A-7790-ECA1-BC04-FA7534586219}"/>
              </a:ext>
            </a:extLst>
          </p:cNvPr>
          <p:cNvSpPr/>
          <p:nvPr/>
        </p:nvSpPr>
        <p:spPr>
          <a:xfrm>
            <a:off x="9708700" y="5082939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rsyslog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1027" name="Picture 6" descr="rsyslog and closely related libraries · GitHub">
            <a:extLst>
              <a:ext uri="{FF2B5EF4-FFF2-40B4-BE49-F238E27FC236}">
                <a16:creationId xmlns:a16="http://schemas.microsoft.com/office/drawing/2014/main" id="{78D17E0D-6CB1-3287-546E-47AB8A290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502" y="4950555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9" name="Connector: Elbow 1028">
            <a:extLst>
              <a:ext uri="{FF2B5EF4-FFF2-40B4-BE49-F238E27FC236}">
                <a16:creationId xmlns:a16="http://schemas.microsoft.com/office/drawing/2014/main" id="{EA07D449-C081-8A33-1BCA-3C21A52D7F78}"/>
              </a:ext>
            </a:extLst>
          </p:cNvPr>
          <p:cNvCxnSpPr>
            <a:cxnSpLocks/>
            <a:stCxn id="31" idx="2"/>
            <a:endCxn id="1025" idx="2"/>
          </p:cNvCxnSpPr>
          <p:nvPr/>
        </p:nvCxnSpPr>
        <p:spPr>
          <a:xfrm rot="16200000" flipH="1">
            <a:off x="9284000" y="4912126"/>
            <a:ext cx="7305" cy="1676992"/>
          </a:xfrm>
          <a:prstGeom prst="bentConnector3">
            <a:avLst>
              <a:gd name="adj1" fmla="val 3229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: Elbow 1030">
            <a:extLst>
              <a:ext uri="{FF2B5EF4-FFF2-40B4-BE49-F238E27FC236}">
                <a16:creationId xmlns:a16="http://schemas.microsoft.com/office/drawing/2014/main" id="{2311A607-053B-B4CE-A29B-6781A8CAF755}"/>
              </a:ext>
            </a:extLst>
          </p:cNvPr>
          <p:cNvCxnSpPr>
            <a:cxnSpLocks/>
            <a:stCxn id="1024" idx="2"/>
            <a:endCxn id="1025" idx="2"/>
          </p:cNvCxnSpPr>
          <p:nvPr/>
        </p:nvCxnSpPr>
        <p:spPr>
          <a:xfrm rot="16200000" flipH="1">
            <a:off x="9680044" y="5308170"/>
            <a:ext cx="7305" cy="884904"/>
          </a:xfrm>
          <a:prstGeom prst="bentConnector3">
            <a:avLst>
              <a:gd name="adj1" fmla="val 3229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OpenSSF Landscape">
            <a:extLst>
              <a:ext uri="{FF2B5EF4-FFF2-40B4-BE49-F238E27FC236}">
                <a16:creationId xmlns:a16="http://schemas.microsoft.com/office/drawing/2014/main" id="{7569A475-0C4E-D069-8872-D1CDB706D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696" y="4552408"/>
            <a:ext cx="848601" cy="68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73BBD36-65A1-6C7A-FF0E-AE8FA2BEDC01}"/>
              </a:ext>
            </a:extLst>
          </p:cNvPr>
          <p:cNvSpPr/>
          <p:nvPr/>
        </p:nvSpPr>
        <p:spPr>
          <a:xfrm>
            <a:off x="2473020" y="3310306"/>
            <a:ext cx="3824708" cy="82118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13A79262-1C80-8E53-AD0A-CEEF345A553D}"/>
              </a:ext>
            </a:extLst>
          </p:cNvPr>
          <p:cNvSpPr txBox="1"/>
          <p:nvPr/>
        </p:nvSpPr>
        <p:spPr>
          <a:xfrm>
            <a:off x="2501950" y="3310306"/>
            <a:ext cx="17856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Step Edge Server</a:t>
            </a:r>
          </a:p>
        </p:txBody>
      </p:sp>
      <p:pic>
        <p:nvPicPr>
          <p:cNvPr id="1035" name="Picture 6" descr="rsyslog and closely related libraries · GitHub">
            <a:extLst>
              <a:ext uri="{FF2B5EF4-FFF2-40B4-BE49-F238E27FC236}">
                <a16:creationId xmlns:a16="http://schemas.microsoft.com/office/drawing/2014/main" id="{7EE27D55-1B63-9E0E-B08D-43D52840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917" y="3390141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2" descr="OpenSSF Landscape">
            <a:extLst>
              <a:ext uri="{FF2B5EF4-FFF2-40B4-BE49-F238E27FC236}">
                <a16:creationId xmlns:a16="http://schemas.microsoft.com/office/drawing/2014/main" id="{9E1B08DB-99E4-2ED7-4725-C21B7C064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085" y="3341635"/>
            <a:ext cx="848601" cy="68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6C056163-926C-20C4-8A22-B3CB0B4F3515}"/>
              </a:ext>
            </a:extLst>
          </p:cNvPr>
          <p:cNvCxnSpPr>
            <a:cxnSpLocks/>
          </p:cNvCxnSpPr>
          <p:nvPr/>
        </p:nvCxnSpPr>
        <p:spPr>
          <a:xfrm flipV="1">
            <a:off x="3466539" y="4014091"/>
            <a:ext cx="172186" cy="1108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D7ECFF3D-7E5F-D6A4-0A2E-4B22B59AECB5}"/>
              </a:ext>
            </a:extLst>
          </p:cNvPr>
          <p:cNvCxnSpPr>
            <a:cxnSpLocks/>
            <a:endCxn id="1036" idx="2"/>
          </p:cNvCxnSpPr>
          <p:nvPr/>
        </p:nvCxnSpPr>
        <p:spPr>
          <a:xfrm flipH="1" flipV="1">
            <a:off x="5191386" y="4030059"/>
            <a:ext cx="1397630" cy="11914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49C011A0-6882-8DA9-D71D-052A25ADF36A}"/>
              </a:ext>
            </a:extLst>
          </p:cNvPr>
          <p:cNvCxnSpPr>
            <a:cxnSpLocks/>
            <a:stCxn id="1036" idx="3"/>
            <a:endCxn id="1032" idx="2"/>
          </p:cNvCxnSpPr>
          <p:nvPr/>
        </p:nvCxnSpPr>
        <p:spPr>
          <a:xfrm flipV="1">
            <a:off x="5615686" y="2848070"/>
            <a:ext cx="575955" cy="837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14C20CD9-E6E9-5A17-8B73-9D9759D10F2D}"/>
              </a:ext>
            </a:extLst>
          </p:cNvPr>
          <p:cNvCxnSpPr>
            <a:cxnSpLocks/>
            <a:stCxn id="1035" idx="3"/>
          </p:cNvCxnSpPr>
          <p:nvPr/>
        </p:nvCxnSpPr>
        <p:spPr>
          <a:xfrm flipV="1">
            <a:off x="4191021" y="3685847"/>
            <a:ext cx="576064" cy="172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15BFE3D7-5E76-C331-FB00-005C32453397}"/>
              </a:ext>
            </a:extLst>
          </p:cNvPr>
          <p:cNvCxnSpPr>
            <a:cxnSpLocks/>
            <a:stCxn id="2" idx="0"/>
            <a:endCxn id="1032" idx="2"/>
          </p:cNvCxnSpPr>
          <p:nvPr/>
        </p:nvCxnSpPr>
        <p:spPr>
          <a:xfrm flipH="1" flipV="1">
            <a:off x="6191641" y="2848070"/>
            <a:ext cx="3916356" cy="170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7" name="Picture 10" descr="What is Grafana Loki?. A Comprehensive Guide to the Log… | by Grigor  Khachatryan | Medium">
            <a:extLst>
              <a:ext uri="{FF2B5EF4-FFF2-40B4-BE49-F238E27FC236}">
                <a16:creationId xmlns:a16="http://schemas.microsoft.com/office/drawing/2014/main" id="{D8074CFD-C3E4-C2D4-E922-8DE805929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444" y="405458"/>
            <a:ext cx="1359075" cy="80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12" descr="What is Amazon S3?. An introduction to Amazon S3, with… | by Jovan S  Hernandez | Medium">
            <a:extLst>
              <a:ext uri="{FF2B5EF4-FFF2-40B4-BE49-F238E27FC236}">
                <a16:creationId xmlns:a16="http://schemas.microsoft.com/office/drawing/2014/main" id="{998EB579-D346-140C-05C9-CD0A0F44B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957" y="405677"/>
            <a:ext cx="2787310" cy="96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14" descr="What happens when a document is indexed in Elasticsearch? | by Arun Mohan |  elasticsearch | Medium">
            <a:extLst>
              <a:ext uri="{FF2B5EF4-FFF2-40B4-BE49-F238E27FC236}">
                <a16:creationId xmlns:a16="http://schemas.microsoft.com/office/drawing/2014/main" id="{7A62638A-1342-3041-394F-EE798BED6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86" y="430211"/>
            <a:ext cx="1797846" cy="93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16" descr="My top 5 tools to manage/develop with Apache Kafka | by Rafael Zimmermann |  Medium">
            <a:extLst>
              <a:ext uri="{FF2B5EF4-FFF2-40B4-BE49-F238E27FC236}">
                <a16:creationId xmlns:a16="http://schemas.microsoft.com/office/drawing/2014/main" id="{896ADC52-776C-DE50-D048-80F1E8F71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4264" y="355292"/>
            <a:ext cx="1819464" cy="101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4" name="Right Brace 1063">
            <a:extLst>
              <a:ext uri="{FF2B5EF4-FFF2-40B4-BE49-F238E27FC236}">
                <a16:creationId xmlns:a16="http://schemas.microsoft.com/office/drawing/2014/main" id="{77C42CE5-6CFB-D9F6-CE89-866E1A4C2F6E}"/>
              </a:ext>
            </a:extLst>
          </p:cNvPr>
          <p:cNvSpPr/>
          <p:nvPr/>
        </p:nvSpPr>
        <p:spPr>
          <a:xfrm rot="5400000">
            <a:off x="6024590" y="-2480353"/>
            <a:ext cx="354094" cy="84423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5" name="Picture 18" descr="ROS 2 · GitHub">
            <a:extLst>
              <a:ext uri="{FF2B5EF4-FFF2-40B4-BE49-F238E27FC236}">
                <a16:creationId xmlns:a16="http://schemas.microsoft.com/office/drawing/2014/main" id="{C1D8E0B8-27C0-1703-BB58-BD1D75064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327" y="4350210"/>
            <a:ext cx="551117" cy="55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18" descr="ROS 2 · GitHub">
            <a:extLst>
              <a:ext uri="{FF2B5EF4-FFF2-40B4-BE49-F238E27FC236}">
                <a16:creationId xmlns:a16="http://schemas.microsoft.com/office/drawing/2014/main" id="{7EAE4B3C-50A5-5ABD-9A77-D6A091666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137" y="4365898"/>
            <a:ext cx="551117" cy="55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18" descr="ROS 2 · GitHub">
            <a:extLst>
              <a:ext uri="{FF2B5EF4-FFF2-40B4-BE49-F238E27FC236}">
                <a16:creationId xmlns:a16="http://schemas.microsoft.com/office/drawing/2014/main" id="{96164AF5-B7A4-986D-5F53-2AF5D7E6C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542" y="4365898"/>
            <a:ext cx="551117" cy="55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A8CB25-F3FD-E34E-0624-964B4DCC0471}"/>
              </a:ext>
            </a:extLst>
          </p:cNvPr>
          <p:cNvCxnSpPr>
            <a:cxnSpLocks/>
            <a:stCxn id="1036" idx="0"/>
          </p:cNvCxnSpPr>
          <p:nvPr/>
        </p:nvCxnSpPr>
        <p:spPr>
          <a:xfrm flipV="1">
            <a:off x="5191386" y="1773610"/>
            <a:ext cx="0" cy="1568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02CC68-46D0-7176-0DDA-B58B23EBD63F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7686526" y="1773610"/>
            <a:ext cx="2421471" cy="277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263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D4D40D-7590-6B74-2DD0-51CF68EBF47D}"/>
              </a:ext>
            </a:extLst>
          </p:cNvPr>
          <p:cNvSpPr/>
          <p:nvPr/>
        </p:nvSpPr>
        <p:spPr>
          <a:xfrm>
            <a:off x="2285926" y="1485578"/>
            <a:ext cx="7344816" cy="61172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dirty="0"/>
              <a:t>ROS 2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58F7B2-FC63-83FE-82B8-80554AE0DABF}"/>
              </a:ext>
            </a:extLst>
          </p:cNvPr>
          <p:cNvSpPr/>
          <p:nvPr/>
        </p:nvSpPr>
        <p:spPr>
          <a:xfrm>
            <a:off x="2285926" y="2277666"/>
            <a:ext cx="2664296" cy="61172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rclcpp</a:t>
            </a:r>
            <a:endParaRPr kumimoji="1"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81E3C7-9B99-11D1-6FE4-A8D083C24B72}"/>
              </a:ext>
            </a:extLst>
          </p:cNvPr>
          <p:cNvSpPr/>
          <p:nvPr/>
        </p:nvSpPr>
        <p:spPr>
          <a:xfrm>
            <a:off x="5166246" y="2277666"/>
            <a:ext cx="2592288" cy="61172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rclpy</a:t>
            </a:r>
            <a:endParaRPr kumimoji="1"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542512-425E-B2C2-5A9F-89B65C3B9254}"/>
              </a:ext>
            </a:extLst>
          </p:cNvPr>
          <p:cNvSpPr/>
          <p:nvPr/>
        </p:nvSpPr>
        <p:spPr>
          <a:xfrm>
            <a:off x="2285926" y="3069754"/>
            <a:ext cx="5472608" cy="611727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rcl</a:t>
            </a:r>
            <a:r>
              <a:rPr lang="en-US" dirty="0"/>
              <a:t> (</a:t>
            </a:r>
            <a:r>
              <a:rPr lang="en-US" dirty="0" err="1"/>
              <a:t>rosout</a:t>
            </a:r>
            <a:r>
              <a:rPr lang="en-US" dirty="0"/>
              <a:t>)</a:t>
            </a:r>
            <a:endParaRPr kumimoji="1"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04463A-F90F-BFF4-93F9-99901C6147FB}"/>
              </a:ext>
            </a:extLst>
          </p:cNvPr>
          <p:cNvSpPr/>
          <p:nvPr/>
        </p:nvSpPr>
        <p:spPr>
          <a:xfrm>
            <a:off x="2285926" y="3861842"/>
            <a:ext cx="5472608" cy="122413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rcl_logging_interface</a:t>
            </a:r>
            <a:endParaRPr lang="en-US" dirty="0"/>
          </a:p>
          <a:p>
            <a:pPr algn="ctr"/>
            <a:endParaRPr kumimoji="1" lang="en-US" dirty="0"/>
          </a:p>
          <a:p>
            <a:pPr algn="ctr"/>
            <a:endParaRPr kumimoji="1"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63B89-13DE-B00D-06E6-EE9256B0E98B}"/>
              </a:ext>
            </a:extLst>
          </p:cNvPr>
          <p:cNvSpPr/>
          <p:nvPr/>
        </p:nvSpPr>
        <p:spPr>
          <a:xfrm>
            <a:off x="7974558" y="2277666"/>
            <a:ext cx="1656184" cy="280831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r</a:t>
            </a:r>
            <a:r>
              <a:rPr kumimoji="1" lang="en-US" dirty="0" err="1"/>
              <a:t>cutils</a:t>
            </a:r>
            <a:endParaRPr kumimoji="1" lang="en-US" dirty="0"/>
          </a:p>
          <a:p>
            <a:pPr algn="ctr"/>
            <a:r>
              <a:rPr lang="en-US" dirty="0"/>
              <a:t>(Console)</a:t>
            </a:r>
            <a:endParaRPr kumimoji="1"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92841F-DA91-5DA7-2FC0-66CFB7F9CCA0}"/>
              </a:ext>
            </a:extLst>
          </p:cNvPr>
          <p:cNvSpPr/>
          <p:nvPr/>
        </p:nvSpPr>
        <p:spPr>
          <a:xfrm>
            <a:off x="2573958" y="4401902"/>
            <a:ext cx="2376264" cy="50405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/>
              <a:t>rcl_logging_spdlog</a:t>
            </a:r>
            <a:endParaRPr kumimoji="1" lang="en-US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2AC72A-B4E1-C60A-B407-669936D0FFF5}"/>
              </a:ext>
            </a:extLst>
          </p:cNvPr>
          <p:cNvSpPr/>
          <p:nvPr/>
        </p:nvSpPr>
        <p:spPr>
          <a:xfrm>
            <a:off x="5166246" y="4401902"/>
            <a:ext cx="2376264" cy="50405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 err="1"/>
              <a:t>rcl_logging_noop</a:t>
            </a:r>
            <a:endParaRPr kumimoji="1" lang="en-US" sz="1800" dirty="0"/>
          </a:p>
        </p:txBody>
      </p:sp>
    </p:spTree>
    <p:extLst>
      <p:ext uri="{BB962C8B-B14F-4D97-AF65-F5344CB8AC3E}">
        <p14:creationId xmlns:p14="http://schemas.microsoft.com/office/powerpoint/2010/main" val="98825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9CC60D3-781A-4D68-4D47-F3E1A15D76A4}"/>
              </a:ext>
            </a:extLst>
          </p:cNvPr>
          <p:cNvSpPr/>
          <p:nvPr/>
        </p:nvSpPr>
        <p:spPr>
          <a:xfrm>
            <a:off x="1299084" y="4555731"/>
            <a:ext cx="2887167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290FF8-B8C3-1A7D-83AF-0349FD532B1E}"/>
              </a:ext>
            </a:extLst>
          </p:cNvPr>
          <p:cNvSpPr/>
          <p:nvPr/>
        </p:nvSpPr>
        <p:spPr>
          <a:xfrm>
            <a:off x="1527906" y="5660447"/>
            <a:ext cx="2419071" cy="40745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EdgeCore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F41F0-108C-8E44-3486-6B799F28A583}"/>
              </a:ext>
            </a:extLst>
          </p:cNvPr>
          <p:cNvSpPr txBox="1"/>
          <p:nvPr/>
        </p:nvSpPr>
        <p:spPr>
          <a:xfrm>
            <a:off x="1299084" y="4555731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42FB1-11E5-8FFD-BA60-DD64755A90E1}"/>
              </a:ext>
            </a:extLst>
          </p:cNvPr>
          <p:cNvSpPr/>
          <p:nvPr/>
        </p:nvSpPr>
        <p:spPr>
          <a:xfrm>
            <a:off x="1527906" y="4888878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50A09C-ED2C-820D-3162-C9CEC756B18B}"/>
              </a:ext>
            </a:extLst>
          </p:cNvPr>
          <p:cNvSpPr/>
          <p:nvPr/>
        </p:nvSpPr>
        <p:spPr>
          <a:xfrm>
            <a:off x="4627673" y="4555731"/>
            <a:ext cx="2887167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1E4576-6A1F-50DA-2FA0-E7A9636C8E34}"/>
              </a:ext>
            </a:extLst>
          </p:cNvPr>
          <p:cNvSpPr/>
          <p:nvPr/>
        </p:nvSpPr>
        <p:spPr>
          <a:xfrm>
            <a:off x="4856495" y="5660447"/>
            <a:ext cx="2419071" cy="40745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EdgeCore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E4E51DE9-4266-536C-D2FF-52A6092D2DFF}"/>
              </a:ext>
            </a:extLst>
          </p:cNvPr>
          <p:cNvSpPr txBox="1"/>
          <p:nvPr/>
        </p:nvSpPr>
        <p:spPr>
          <a:xfrm>
            <a:off x="4627673" y="4555731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820E03B1-9B47-06F7-45AB-20869B74FD53}"/>
              </a:ext>
            </a:extLst>
          </p:cNvPr>
          <p:cNvSpPr/>
          <p:nvPr/>
        </p:nvSpPr>
        <p:spPr>
          <a:xfrm>
            <a:off x="6642707" y="4888878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05957123-AFC5-28B4-1D24-6CC89DC54E5D}"/>
              </a:ext>
            </a:extLst>
          </p:cNvPr>
          <p:cNvSpPr/>
          <p:nvPr/>
        </p:nvSpPr>
        <p:spPr>
          <a:xfrm>
            <a:off x="1577233" y="636034"/>
            <a:ext cx="5498712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906559DD-9AF3-EB0D-16B2-6B67D3A73F47}"/>
              </a:ext>
            </a:extLst>
          </p:cNvPr>
          <p:cNvSpPr/>
          <p:nvPr/>
        </p:nvSpPr>
        <p:spPr>
          <a:xfrm>
            <a:off x="1815939" y="1740750"/>
            <a:ext cx="4973164" cy="407452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kubelet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6433F19-2BE6-06F5-0D11-7AC8D8F1A9FB}"/>
              </a:ext>
            </a:extLst>
          </p:cNvPr>
          <p:cNvSpPr txBox="1"/>
          <p:nvPr/>
        </p:nvSpPr>
        <p:spPr>
          <a:xfrm>
            <a:off x="1577233" y="636034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Cloud Node</a:t>
            </a:r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4811619A-1D3B-F61D-BF17-8897E0F937D4}"/>
              </a:ext>
            </a:extLst>
          </p:cNvPr>
          <p:cNvSpPr/>
          <p:nvPr/>
        </p:nvSpPr>
        <p:spPr>
          <a:xfrm>
            <a:off x="4339641" y="969181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1" u="sng" dirty="0">
                <a:solidFill>
                  <a:schemeClr val="accent6"/>
                </a:solidFill>
              </a:rPr>
              <a:t>Cilium</a:t>
            </a:r>
          </a:p>
          <a:p>
            <a:pPr algn="ctr"/>
            <a:r>
              <a:rPr kumimoji="1" lang="en-US" sz="1200" b="1" i="1" u="sng" dirty="0">
                <a:solidFill>
                  <a:schemeClr val="accent6"/>
                </a:solidFill>
              </a:rPr>
              <a:t>(</a:t>
            </a:r>
            <a:r>
              <a:rPr kumimoji="1" lang="en-US" sz="1200" b="1" i="1" u="sng" dirty="0" err="1">
                <a:solidFill>
                  <a:schemeClr val="accent6"/>
                </a:solidFill>
              </a:rPr>
              <a:t>wireguard</a:t>
            </a:r>
            <a:r>
              <a:rPr kumimoji="1" lang="en-US" sz="1200" b="1" i="1" u="sng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1BBC36C-ACEE-7F0A-1877-68711BAD33A6}"/>
              </a:ext>
            </a:extLst>
          </p:cNvPr>
          <p:cNvSpPr/>
          <p:nvPr/>
        </p:nvSpPr>
        <p:spPr>
          <a:xfrm>
            <a:off x="1815938" y="1059754"/>
            <a:ext cx="1433406" cy="680996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k</a:t>
            </a:r>
            <a:r>
              <a:rPr kumimoji="1" lang="en-US" sz="1800" dirty="0">
                <a:solidFill>
                  <a:schemeClr val="tx1"/>
                </a:solidFill>
              </a:rPr>
              <a:t>8s</a:t>
            </a:r>
          </a:p>
          <a:p>
            <a:pPr algn="ctr"/>
            <a:r>
              <a:rPr lang="en-US" sz="1800" dirty="0" err="1">
                <a:solidFill>
                  <a:schemeClr val="tx1"/>
                </a:solidFill>
              </a:rPr>
              <a:t>api</a:t>
            </a:r>
            <a:r>
              <a:rPr lang="en-US" sz="1800" dirty="0">
                <a:solidFill>
                  <a:schemeClr val="tx1"/>
                </a:solidFill>
              </a:rPr>
              <a:t>-server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0424EC6-3BA0-97C9-9827-845F5B9FCEA3}"/>
              </a:ext>
            </a:extLst>
          </p:cNvPr>
          <p:cNvSpPr/>
          <p:nvPr/>
        </p:nvSpPr>
        <p:spPr>
          <a:xfrm>
            <a:off x="3391646" y="976486"/>
            <a:ext cx="834895" cy="67133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Cloud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Core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1D0D22C-04F3-223A-1A20-4A9D450F0053}"/>
              </a:ext>
            </a:extLst>
          </p:cNvPr>
          <p:cNvSpPr/>
          <p:nvPr/>
        </p:nvSpPr>
        <p:spPr>
          <a:xfrm>
            <a:off x="5347753" y="976486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4FF7519-A3B7-63E5-6173-B5A577758B75}"/>
              </a:ext>
            </a:extLst>
          </p:cNvPr>
          <p:cNvSpPr/>
          <p:nvPr/>
        </p:nvSpPr>
        <p:spPr>
          <a:xfrm>
            <a:off x="6139841" y="976486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pic>
        <p:nvPicPr>
          <p:cNvPr id="1046" name="Picture 1045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0D1E848A-B200-F4E5-DAB6-48E15C1E3C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76793" y="3218170"/>
            <a:ext cx="899592" cy="597854"/>
          </a:xfrm>
          <a:prstGeom prst="rect">
            <a:avLst/>
          </a:prstGeom>
        </p:spPr>
      </p:pic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5A0E7507-D864-AB3C-124D-386D29C43331}"/>
              </a:ext>
            </a:extLst>
          </p:cNvPr>
          <p:cNvCxnSpPr>
            <a:endCxn id="1046" idx="1"/>
          </p:cNvCxnSpPr>
          <p:nvPr/>
        </p:nvCxnSpPr>
        <p:spPr>
          <a:xfrm>
            <a:off x="595225" y="3517097"/>
            <a:ext cx="3281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DEFAC821-BD9A-5C86-125B-DA910B82E1C4}"/>
              </a:ext>
            </a:extLst>
          </p:cNvPr>
          <p:cNvCxnSpPr>
            <a:cxnSpLocks/>
            <a:endCxn id="1046" idx="3"/>
          </p:cNvCxnSpPr>
          <p:nvPr/>
        </p:nvCxnSpPr>
        <p:spPr>
          <a:xfrm flipH="1" flipV="1">
            <a:off x="4776385" y="3517097"/>
            <a:ext cx="3667712" cy="15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92137BC1-5B52-3DA1-84C7-CD8E06B3686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742668" y="3499805"/>
            <a:ext cx="0" cy="1055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7D3FE936-1B0E-68AC-50B9-4AEC5E6768A8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6066030" y="3517097"/>
            <a:ext cx="5227" cy="1038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E96490D0-69EB-2E7F-7802-3D2D32EBCE47}"/>
              </a:ext>
            </a:extLst>
          </p:cNvPr>
          <p:cNvCxnSpPr>
            <a:cxnSpLocks/>
            <a:stCxn id="1046" idx="0"/>
            <a:endCxn id="1029" idx="2"/>
          </p:cNvCxnSpPr>
          <p:nvPr/>
        </p:nvCxnSpPr>
        <p:spPr>
          <a:xfrm flipV="1">
            <a:off x="4326589" y="2275669"/>
            <a:ext cx="0" cy="942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003257-BC48-BE58-023A-E054FE957681}"/>
              </a:ext>
            </a:extLst>
          </p:cNvPr>
          <p:cNvSpPr txBox="1"/>
          <p:nvPr/>
        </p:nvSpPr>
        <p:spPr>
          <a:xfrm>
            <a:off x="7789002" y="4264275"/>
            <a:ext cx="689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80569-3042-4061-2E97-1C030B1BCBA5}"/>
              </a:ext>
            </a:extLst>
          </p:cNvPr>
          <p:cNvSpPr/>
          <p:nvPr/>
        </p:nvSpPr>
        <p:spPr>
          <a:xfrm>
            <a:off x="1017450" y="4296966"/>
            <a:ext cx="6784973" cy="215716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B4BC1D-06E6-21F2-8919-091524C78631}"/>
              </a:ext>
            </a:extLst>
          </p:cNvPr>
          <p:cNvCxnSpPr>
            <a:cxnSpLocks/>
            <a:stCxn id="1042" idx="2"/>
            <a:endCxn id="22" idx="0"/>
          </p:cNvCxnSpPr>
          <p:nvPr/>
        </p:nvCxnSpPr>
        <p:spPr>
          <a:xfrm flipH="1">
            <a:off x="2737442" y="1647822"/>
            <a:ext cx="1071652" cy="4012625"/>
          </a:xfrm>
          <a:prstGeom prst="straightConnector1">
            <a:avLst/>
          </a:prstGeom>
          <a:ln w="190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97009A-F7A9-E236-D357-9EEF288D443D}"/>
              </a:ext>
            </a:extLst>
          </p:cNvPr>
          <p:cNvSpPr txBox="1"/>
          <p:nvPr/>
        </p:nvSpPr>
        <p:spPr>
          <a:xfrm>
            <a:off x="7614518" y="991212"/>
            <a:ext cx="2141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3"/>
                </a:solidFill>
              </a:rPr>
              <a:t>Control-Plane</a:t>
            </a:r>
          </a:p>
          <a:p>
            <a:r>
              <a:rPr lang="en-US" sz="1600" b="1" u="sng" dirty="0">
                <a:solidFill>
                  <a:schemeClr val="accent3"/>
                </a:solidFill>
              </a:rPr>
              <a:t>(WebSocket w/ TLS)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30FC5D-A645-137E-11B5-123D3B0CBC04}"/>
              </a:ext>
            </a:extLst>
          </p:cNvPr>
          <p:cNvCxnSpPr>
            <a:cxnSpLocks/>
            <a:stCxn id="1042" idx="2"/>
            <a:endCxn id="31" idx="0"/>
          </p:cNvCxnSpPr>
          <p:nvPr/>
        </p:nvCxnSpPr>
        <p:spPr>
          <a:xfrm>
            <a:off x="3809094" y="1647822"/>
            <a:ext cx="2256937" cy="4012625"/>
          </a:xfrm>
          <a:prstGeom prst="straightConnector1">
            <a:avLst/>
          </a:prstGeom>
          <a:ln w="190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803F9E-8EB0-197B-2A0A-CEB1FF12582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9756515" y="1283599"/>
            <a:ext cx="1530411" cy="1"/>
          </a:xfrm>
          <a:prstGeom prst="straightConnector1">
            <a:avLst/>
          </a:prstGeom>
          <a:ln w="190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158568C-A2AE-1A86-BEC2-FF32EC988ABD}"/>
              </a:ext>
            </a:extLst>
          </p:cNvPr>
          <p:cNvSpPr/>
          <p:nvPr/>
        </p:nvSpPr>
        <p:spPr>
          <a:xfrm>
            <a:off x="4843697" y="4888878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1" u="sng" dirty="0">
                <a:solidFill>
                  <a:schemeClr val="accent6"/>
                </a:solidFill>
              </a:rPr>
              <a:t>Cilium</a:t>
            </a:r>
          </a:p>
          <a:p>
            <a:pPr algn="ctr"/>
            <a:r>
              <a:rPr kumimoji="1" lang="en-US" sz="1200" b="1" i="1" u="sng" dirty="0">
                <a:solidFill>
                  <a:schemeClr val="accent6"/>
                </a:solidFill>
              </a:rPr>
              <a:t>(</a:t>
            </a:r>
            <a:r>
              <a:rPr kumimoji="1" lang="en-US" sz="1200" b="1" i="1" u="sng" dirty="0" err="1">
                <a:solidFill>
                  <a:schemeClr val="accent6"/>
                </a:solidFill>
              </a:rPr>
              <a:t>wireguard</a:t>
            </a:r>
            <a:r>
              <a:rPr kumimoji="1" lang="en-US" sz="1200" b="1" i="1" u="sng" dirty="0">
                <a:solidFill>
                  <a:schemeClr val="accent6"/>
                </a:solidFill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36D51C-3130-61F7-8D91-CBF38301C38F}"/>
              </a:ext>
            </a:extLst>
          </p:cNvPr>
          <p:cNvSpPr/>
          <p:nvPr/>
        </p:nvSpPr>
        <p:spPr>
          <a:xfrm>
            <a:off x="3144706" y="4916701"/>
            <a:ext cx="834895" cy="67133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i="1" u="sng" dirty="0">
                <a:solidFill>
                  <a:schemeClr val="accent6"/>
                </a:solidFill>
              </a:rPr>
              <a:t>Cilium</a:t>
            </a:r>
          </a:p>
          <a:p>
            <a:pPr algn="ctr"/>
            <a:r>
              <a:rPr kumimoji="1" lang="en-US" sz="1200" b="1" i="1" u="sng" dirty="0">
                <a:solidFill>
                  <a:schemeClr val="accent6"/>
                </a:solidFill>
              </a:rPr>
              <a:t>(</a:t>
            </a:r>
            <a:r>
              <a:rPr kumimoji="1" lang="en-US" sz="1200" b="1" i="1" u="sng" dirty="0" err="1">
                <a:solidFill>
                  <a:schemeClr val="accent6"/>
                </a:solidFill>
              </a:rPr>
              <a:t>wireguard</a:t>
            </a:r>
            <a:r>
              <a:rPr kumimoji="1" lang="en-US" sz="1200" b="1" i="1" u="sng" dirty="0">
                <a:solidFill>
                  <a:schemeClr val="accent6"/>
                </a:solidFill>
              </a:rPr>
              <a:t>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7DAE55-DE45-4915-FAB3-692CBDEACF0C}"/>
              </a:ext>
            </a:extLst>
          </p:cNvPr>
          <p:cNvCxnSpPr>
            <a:cxnSpLocks/>
            <a:stCxn id="6" idx="3"/>
            <a:endCxn id="1025" idx="1"/>
          </p:cNvCxnSpPr>
          <p:nvPr/>
        </p:nvCxnSpPr>
        <p:spPr>
          <a:xfrm>
            <a:off x="2177168" y="5224546"/>
            <a:ext cx="4465539" cy="0"/>
          </a:xfrm>
          <a:prstGeom prst="straightConnector1">
            <a:avLst/>
          </a:prstGeom>
          <a:ln w="19050">
            <a:solidFill>
              <a:schemeClr val="accent6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2C3E3B6-DECE-7649-E020-B6FE399407E8}"/>
              </a:ext>
            </a:extLst>
          </p:cNvPr>
          <p:cNvSpPr txBox="1"/>
          <p:nvPr/>
        </p:nvSpPr>
        <p:spPr>
          <a:xfrm>
            <a:off x="7636418" y="1620883"/>
            <a:ext cx="2395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6"/>
                </a:solidFill>
              </a:rPr>
              <a:t>Data-Plane</a:t>
            </a:r>
          </a:p>
          <a:p>
            <a:r>
              <a:rPr lang="en-US" sz="1600" b="1" u="sng" dirty="0">
                <a:solidFill>
                  <a:schemeClr val="accent6"/>
                </a:solidFill>
              </a:rPr>
              <a:t>(Cilium w/ </a:t>
            </a:r>
            <a:r>
              <a:rPr lang="en-US" sz="1600" b="1" u="sng" dirty="0" err="1">
                <a:solidFill>
                  <a:schemeClr val="accent6"/>
                </a:solidFill>
              </a:rPr>
              <a:t>WireGuard</a:t>
            </a:r>
            <a:r>
              <a:rPr lang="en-US" sz="1600" b="1" u="sng" dirty="0">
                <a:solidFill>
                  <a:schemeClr val="accent6"/>
                </a:solidFill>
              </a:rPr>
              <a:t>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F294A9-0090-6D32-BB7B-D78B4BBFFD39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10032138" y="1909134"/>
            <a:ext cx="1254788" cy="4137"/>
          </a:xfrm>
          <a:prstGeom prst="straightConnector1">
            <a:avLst/>
          </a:prstGeom>
          <a:ln w="19050">
            <a:solidFill>
              <a:schemeClr val="accent6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033" name="Picture 2" descr="赤色の×マークイラスト素材透過png">
            <a:extLst>
              <a:ext uri="{FF2B5EF4-FFF2-40B4-BE49-F238E27FC236}">
                <a16:creationId xmlns:a16="http://schemas.microsoft.com/office/drawing/2014/main" id="{397F9778-FA30-87EB-47F9-C30E5E3C5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030" y="2733798"/>
            <a:ext cx="501221" cy="50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D36C120C-D4B5-C98A-0B1D-7339722681DB}"/>
              </a:ext>
            </a:extLst>
          </p:cNvPr>
          <p:cNvSpPr txBox="1"/>
          <p:nvPr/>
        </p:nvSpPr>
        <p:spPr>
          <a:xfrm>
            <a:off x="4653759" y="2626299"/>
            <a:ext cx="6163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6"/>
                </a:solidFill>
              </a:rPr>
              <a:t>If the public network is disconnected,</a:t>
            </a:r>
          </a:p>
          <a:p>
            <a:r>
              <a:rPr lang="en-US" sz="1600" b="1" u="sng" dirty="0">
                <a:solidFill>
                  <a:schemeClr val="accent6"/>
                </a:solidFill>
              </a:rPr>
              <a:t>Application pods on </a:t>
            </a:r>
            <a:r>
              <a:rPr lang="en-US" sz="1600" b="1" u="sng" dirty="0" err="1">
                <a:solidFill>
                  <a:schemeClr val="accent6"/>
                </a:solidFill>
              </a:rPr>
              <a:t>edgecore</a:t>
            </a:r>
            <a:r>
              <a:rPr lang="en-US" sz="1600" b="1" u="sng" dirty="0">
                <a:solidFill>
                  <a:schemeClr val="accent6"/>
                </a:solidFill>
              </a:rPr>
              <a:t> still communicate each other?</a:t>
            </a:r>
          </a:p>
        </p:txBody>
      </p:sp>
    </p:spTree>
    <p:extLst>
      <p:ext uri="{BB962C8B-B14F-4D97-AF65-F5344CB8AC3E}">
        <p14:creationId xmlns:p14="http://schemas.microsoft.com/office/powerpoint/2010/main" val="386515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9CC60D3-781A-4D68-4D47-F3E1A15D76A4}"/>
              </a:ext>
            </a:extLst>
          </p:cNvPr>
          <p:cNvSpPr/>
          <p:nvPr/>
        </p:nvSpPr>
        <p:spPr>
          <a:xfrm>
            <a:off x="1299084" y="4555731"/>
            <a:ext cx="2887167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290FF8-B8C3-1A7D-83AF-0349FD532B1E}"/>
              </a:ext>
            </a:extLst>
          </p:cNvPr>
          <p:cNvSpPr/>
          <p:nvPr/>
        </p:nvSpPr>
        <p:spPr>
          <a:xfrm>
            <a:off x="1527906" y="5660447"/>
            <a:ext cx="2419071" cy="40745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EdgeCore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4F41F0-108C-8E44-3486-6B799F28A583}"/>
              </a:ext>
            </a:extLst>
          </p:cNvPr>
          <p:cNvSpPr txBox="1"/>
          <p:nvPr/>
        </p:nvSpPr>
        <p:spPr>
          <a:xfrm>
            <a:off x="1299084" y="4555731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42FB1-11E5-8FFD-BA60-DD64755A90E1}"/>
              </a:ext>
            </a:extLst>
          </p:cNvPr>
          <p:cNvSpPr/>
          <p:nvPr/>
        </p:nvSpPr>
        <p:spPr>
          <a:xfrm>
            <a:off x="1527906" y="4888878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50A09C-ED2C-820D-3162-C9CEC756B18B}"/>
              </a:ext>
            </a:extLst>
          </p:cNvPr>
          <p:cNvSpPr/>
          <p:nvPr/>
        </p:nvSpPr>
        <p:spPr>
          <a:xfrm>
            <a:off x="4627673" y="4555731"/>
            <a:ext cx="2887167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1E4576-6A1F-50DA-2FA0-E7A9636C8E34}"/>
              </a:ext>
            </a:extLst>
          </p:cNvPr>
          <p:cNvSpPr/>
          <p:nvPr/>
        </p:nvSpPr>
        <p:spPr>
          <a:xfrm>
            <a:off x="4856495" y="5660447"/>
            <a:ext cx="2419071" cy="40745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EdgeCore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E4E51DE9-4266-536C-D2FF-52A6092D2DFF}"/>
              </a:ext>
            </a:extLst>
          </p:cNvPr>
          <p:cNvSpPr txBox="1"/>
          <p:nvPr/>
        </p:nvSpPr>
        <p:spPr>
          <a:xfrm>
            <a:off x="4627673" y="4555731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Edge Node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820E03B1-9B47-06F7-45AB-20869B74FD53}"/>
              </a:ext>
            </a:extLst>
          </p:cNvPr>
          <p:cNvSpPr/>
          <p:nvPr/>
        </p:nvSpPr>
        <p:spPr>
          <a:xfrm>
            <a:off x="6642707" y="4888878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05957123-AFC5-28B4-1D24-6CC89DC54E5D}"/>
              </a:ext>
            </a:extLst>
          </p:cNvPr>
          <p:cNvSpPr/>
          <p:nvPr/>
        </p:nvSpPr>
        <p:spPr>
          <a:xfrm>
            <a:off x="1577233" y="636034"/>
            <a:ext cx="5498712" cy="163963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906559DD-9AF3-EB0D-16B2-6B67D3A73F47}"/>
              </a:ext>
            </a:extLst>
          </p:cNvPr>
          <p:cNvSpPr/>
          <p:nvPr/>
        </p:nvSpPr>
        <p:spPr>
          <a:xfrm>
            <a:off x="1815939" y="1740750"/>
            <a:ext cx="4973164" cy="407452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err="1">
                <a:solidFill>
                  <a:schemeClr val="tx1"/>
                </a:solidFill>
              </a:rPr>
              <a:t>kubelet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C6433F19-2BE6-06F5-0D11-7AC8D8F1A9FB}"/>
              </a:ext>
            </a:extLst>
          </p:cNvPr>
          <p:cNvSpPr txBox="1"/>
          <p:nvPr/>
        </p:nvSpPr>
        <p:spPr>
          <a:xfrm>
            <a:off x="1577233" y="636034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Cloud Node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1BBC36C-ACEE-7F0A-1877-68711BAD33A6}"/>
              </a:ext>
            </a:extLst>
          </p:cNvPr>
          <p:cNvSpPr/>
          <p:nvPr/>
        </p:nvSpPr>
        <p:spPr>
          <a:xfrm>
            <a:off x="1815938" y="1059754"/>
            <a:ext cx="1433406" cy="680996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k</a:t>
            </a:r>
            <a:r>
              <a:rPr kumimoji="1" lang="en-US" sz="1800" dirty="0">
                <a:solidFill>
                  <a:schemeClr val="tx1"/>
                </a:solidFill>
              </a:rPr>
              <a:t>8s</a:t>
            </a:r>
          </a:p>
          <a:p>
            <a:pPr algn="ctr"/>
            <a:r>
              <a:rPr lang="en-US" sz="1800" dirty="0" err="1">
                <a:solidFill>
                  <a:schemeClr val="tx1"/>
                </a:solidFill>
              </a:rPr>
              <a:t>api</a:t>
            </a:r>
            <a:r>
              <a:rPr lang="en-US" sz="1800" dirty="0">
                <a:solidFill>
                  <a:schemeClr val="tx1"/>
                </a:solidFill>
              </a:rPr>
              <a:t>-server</a:t>
            </a:r>
            <a:endParaRPr kumimoji="1" lang="en-US" sz="1800" dirty="0">
              <a:solidFill>
                <a:schemeClr val="tx1"/>
              </a:solidFill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B0424EC6-3BA0-97C9-9827-845F5B9FCEA3}"/>
              </a:ext>
            </a:extLst>
          </p:cNvPr>
          <p:cNvSpPr/>
          <p:nvPr/>
        </p:nvSpPr>
        <p:spPr>
          <a:xfrm>
            <a:off x="3391646" y="976486"/>
            <a:ext cx="834895" cy="67133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Cloud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Core</a:t>
            </a: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1D0D22C-04F3-223A-1A20-4A9D450F0053}"/>
              </a:ext>
            </a:extLst>
          </p:cNvPr>
          <p:cNvSpPr/>
          <p:nvPr/>
        </p:nvSpPr>
        <p:spPr>
          <a:xfrm>
            <a:off x="5347753" y="976486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C4FF7519-A3B7-63E5-6173-B5A577758B75}"/>
              </a:ext>
            </a:extLst>
          </p:cNvPr>
          <p:cNvSpPr/>
          <p:nvPr/>
        </p:nvSpPr>
        <p:spPr>
          <a:xfrm>
            <a:off x="6139841" y="976486"/>
            <a:ext cx="649262" cy="67133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  <a:endParaRPr kumimoji="1" lang="en-US" sz="1600" dirty="0">
              <a:solidFill>
                <a:schemeClr val="tx1"/>
              </a:solidFill>
            </a:endParaRPr>
          </a:p>
        </p:txBody>
      </p:sp>
      <p:pic>
        <p:nvPicPr>
          <p:cNvPr id="1046" name="Picture 1045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0D1E848A-B200-F4E5-DAB6-48E15C1E3C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876793" y="3218170"/>
            <a:ext cx="899592" cy="597854"/>
          </a:xfrm>
          <a:prstGeom prst="rect">
            <a:avLst/>
          </a:prstGeom>
        </p:spPr>
      </p:pic>
      <p:cxnSp>
        <p:nvCxnSpPr>
          <p:cNvPr id="1048" name="Straight Connector 1047">
            <a:extLst>
              <a:ext uri="{FF2B5EF4-FFF2-40B4-BE49-F238E27FC236}">
                <a16:creationId xmlns:a16="http://schemas.microsoft.com/office/drawing/2014/main" id="{5A0E7507-D864-AB3C-124D-386D29C43331}"/>
              </a:ext>
            </a:extLst>
          </p:cNvPr>
          <p:cNvCxnSpPr>
            <a:endCxn id="1046" idx="1"/>
          </p:cNvCxnSpPr>
          <p:nvPr/>
        </p:nvCxnSpPr>
        <p:spPr>
          <a:xfrm>
            <a:off x="595225" y="3517097"/>
            <a:ext cx="32815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DEFAC821-BD9A-5C86-125B-DA910B82E1C4}"/>
              </a:ext>
            </a:extLst>
          </p:cNvPr>
          <p:cNvCxnSpPr>
            <a:cxnSpLocks/>
            <a:endCxn id="1046" idx="3"/>
          </p:cNvCxnSpPr>
          <p:nvPr/>
        </p:nvCxnSpPr>
        <p:spPr>
          <a:xfrm flipH="1" flipV="1">
            <a:off x="4776385" y="3517097"/>
            <a:ext cx="3667712" cy="15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92137BC1-5B52-3DA1-84C7-CD8E06B3686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2742668" y="3499805"/>
            <a:ext cx="0" cy="1055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7D3FE936-1B0E-68AC-50B9-4AEC5E6768A8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6066030" y="3517097"/>
            <a:ext cx="5227" cy="1038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Connector 1057">
            <a:extLst>
              <a:ext uri="{FF2B5EF4-FFF2-40B4-BE49-F238E27FC236}">
                <a16:creationId xmlns:a16="http://schemas.microsoft.com/office/drawing/2014/main" id="{E96490D0-69EB-2E7F-7802-3D2D32EBCE47}"/>
              </a:ext>
            </a:extLst>
          </p:cNvPr>
          <p:cNvCxnSpPr>
            <a:cxnSpLocks/>
            <a:stCxn id="1046" idx="0"/>
            <a:endCxn id="1029" idx="2"/>
          </p:cNvCxnSpPr>
          <p:nvPr/>
        </p:nvCxnSpPr>
        <p:spPr>
          <a:xfrm flipV="1">
            <a:off x="4326589" y="2275669"/>
            <a:ext cx="0" cy="942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B003257-BC48-BE58-023A-E054FE957681}"/>
              </a:ext>
            </a:extLst>
          </p:cNvPr>
          <p:cNvSpPr txBox="1"/>
          <p:nvPr/>
        </p:nvSpPr>
        <p:spPr>
          <a:xfrm>
            <a:off x="7789002" y="4264275"/>
            <a:ext cx="689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80569-3042-4061-2E97-1C030B1BCBA5}"/>
              </a:ext>
            </a:extLst>
          </p:cNvPr>
          <p:cNvSpPr/>
          <p:nvPr/>
        </p:nvSpPr>
        <p:spPr>
          <a:xfrm>
            <a:off x="1017450" y="4296966"/>
            <a:ext cx="6784973" cy="215716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B4BC1D-06E6-21F2-8919-091524C78631}"/>
              </a:ext>
            </a:extLst>
          </p:cNvPr>
          <p:cNvCxnSpPr>
            <a:cxnSpLocks/>
            <a:stCxn id="1042" idx="2"/>
            <a:endCxn id="22" idx="0"/>
          </p:cNvCxnSpPr>
          <p:nvPr/>
        </p:nvCxnSpPr>
        <p:spPr>
          <a:xfrm flipH="1">
            <a:off x="2737442" y="1647822"/>
            <a:ext cx="1071652" cy="4012625"/>
          </a:xfrm>
          <a:prstGeom prst="straightConnector1">
            <a:avLst/>
          </a:prstGeom>
          <a:ln w="190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E97009A-F7A9-E236-D357-9EEF288D443D}"/>
              </a:ext>
            </a:extLst>
          </p:cNvPr>
          <p:cNvSpPr txBox="1"/>
          <p:nvPr/>
        </p:nvSpPr>
        <p:spPr>
          <a:xfrm>
            <a:off x="7614518" y="991212"/>
            <a:ext cx="21419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3"/>
                </a:solidFill>
              </a:rPr>
              <a:t>Control-Plane</a:t>
            </a:r>
          </a:p>
          <a:p>
            <a:r>
              <a:rPr lang="en-US" sz="1600" b="1" u="sng" dirty="0">
                <a:solidFill>
                  <a:schemeClr val="accent3"/>
                </a:solidFill>
              </a:rPr>
              <a:t>(WebSocket w/ TLS)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30FC5D-A645-137E-11B5-123D3B0CBC04}"/>
              </a:ext>
            </a:extLst>
          </p:cNvPr>
          <p:cNvCxnSpPr>
            <a:cxnSpLocks/>
            <a:stCxn id="1042" idx="2"/>
            <a:endCxn id="31" idx="0"/>
          </p:cNvCxnSpPr>
          <p:nvPr/>
        </p:nvCxnSpPr>
        <p:spPr>
          <a:xfrm>
            <a:off x="3809094" y="1647822"/>
            <a:ext cx="2256937" cy="4012625"/>
          </a:xfrm>
          <a:prstGeom prst="straightConnector1">
            <a:avLst/>
          </a:prstGeom>
          <a:ln w="190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E803F9E-8EB0-197B-2A0A-CEB1FF125825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9756515" y="1283599"/>
            <a:ext cx="1530411" cy="1"/>
          </a:xfrm>
          <a:prstGeom prst="straightConnector1">
            <a:avLst/>
          </a:prstGeom>
          <a:ln w="19050">
            <a:solidFill>
              <a:schemeClr val="accent3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7DAE55-DE45-4915-FAB3-692CBDEACF0C}"/>
              </a:ext>
            </a:extLst>
          </p:cNvPr>
          <p:cNvCxnSpPr>
            <a:cxnSpLocks/>
            <a:stCxn id="6" idx="3"/>
            <a:endCxn id="1025" idx="1"/>
          </p:cNvCxnSpPr>
          <p:nvPr/>
        </p:nvCxnSpPr>
        <p:spPr>
          <a:xfrm>
            <a:off x="2177168" y="5224546"/>
            <a:ext cx="4465539" cy="0"/>
          </a:xfrm>
          <a:prstGeom prst="straightConnector1">
            <a:avLst/>
          </a:prstGeom>
          <a:ln w="19050">
            <a:solidFill>
              <a:schemeClr val="accent6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2C3E3B6-DECE-7649-E020-B6FE399407E8}"/>
              </a:ext>
            </a:extLst>
          </p:cNvPr>
          <p:cNvSpPr txBox="1"/>
          <p:nvPr/>
        </p:nvSpPr>
        <p:spPr>
          <a:xfrm>
            <a:off x="7636418" y="1620883"/>
            <a:ext cx="1681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6"/>
                </a:solidFill>
              </a:rPr>
              <a:t>Data-Plane</a:t>
            </a:r>
          </a:p>
          <a:p>
            <a:r>
              <a:rPr lang="en-US" sz="1600" b="1" u="sng" dirty="0">
                <a:solidFill>
                  <a:schemeClr val="accent6"/>
                </a:solidFill>
              </a:rPr>
              <a:t>(Host Network)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F294A9-0090-6D32-BB7B-D78B4BBFFD39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9317840" y="1909134"/>
            <a:ext cx="1969086" cy="4137"/>
          </a:xfrm>
          <a:prstGeom prst="straightConnector1">
            <a:avLst/>
          </a:prstGeom>
          <a:ln w="19050">
            <a:solidFill>
              <a:schemeClr val="accent6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033" name="Picture 2" descr="赤色の×マークイラスト素材透過png">
            <a:extLst>
              <a:ext uri="{FF2B5EF4-FFF2-40B4-BE49-F238E27FC236}">
                <a16:creationId xmlns:a16="http://schemas.microsoft.com/office/drawing/2014/main" id="{397F9778-FA30-87EB-47F9-C30E5E3C5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030" y="2733798"/>
            <a:ext cx="501221" cy="50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D36C120C-D4B5-C98A-0B1D-7339722681DB}"/>
              </a:ext>
            </a:extLst>
          </p:cNvPr>
          <p:cNvSpPr txBox="1"/>
          <p:nvPr/>
        </p:nvSpPr>
        <p:spPr>
          <a:xfrm>
            <a:off x="4653759" y="2626299"/>
            <a:ext cx="61631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accent6"/>
                </a:solidFill>
              </a:rPr>
              <a:t>If the public network is disconnected,</a:t>
            </a:r>
          </a:p>
          <a:p>
            <a:r>
              <a:rPr lang="en-US" sz="1600" b="1" u="sng" dirty="0">
                <a:solidFill>
                  <a:schemeClr val="accent6"/>
                </a:solidFill>
              </a:rPr>
              <a:t>Application pods on </a:t>
            </a:r>
            <a:r>
              <a:rPr lang="en-US" sz="1600" b="1" u="sng" dirty="0" err="1">
                <a:solidFill>
                  <a:schemeClr val="accent6"/>
                </a:solidFill>
              </a:rPr>
              <a:t>edgecore</a:t>
            </a:r>
            <a:r>
              <a:rPr lang="en-US" sz="1600" b="1" u="sng" dirty="0">
                <a:solidFill>
                  <a:schemeClr val="accent6"/>
                </a:solidFill>
              </a:rPr>
              <a:t> still communicate each other?</a:t>
            </a:r>
          </a:p>
        </p:txBody>
      </p:sp>
    </p:spTree>
    <p:extLst>
      <p:ext uri="{BB962C8B-B14F-4D97-AF65-F5344CB8AC3E}">
        <p14:creationId xmlns:p14="http://schemas.microsoft.com/office/powerpoint/2010/main" val="38687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91B7B3E-1E2F-286D-CD32-FDC968AEB748}"/>
              </a:ext>
            </a:extLst>
          </p:cNvPr>
          <p:cNvSpPr/>
          <p:nvPr/>
        </p:nvSpPr>
        <p:spPr>
          <a:xfrm>
            <a:off x="1277814" y="2429422"/>
            <a:ext cx="4236795" cy="359265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AA9F5247-18B8-C09A-510C-008F3C7FE664}"/>
              </a:ext>
            </a:extLst>
          </p:cNvPr>
          <p:cNvSpPr txBox="1"/>
          <p:nvPr/>
        </p:nvSpPr>
        <p:spPr>
          <a:xfrm>
            <a:off x="1174688" y="2050101"/>
            <a:ext cx="1875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Awesome robot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B7E1AF7-4B5F-5BAB-40BC-015DD2EEAABB}"/>
              </a:ext>
            </a:extLst>
          </p:cNvPr>
          <p:cNvSpPr/>
          <p:nvPr/>
        </p:nvSpPr>
        <p:spPr>
          <a:xfrm>
            <a:off x="1537461" y="5533559"/>
            <a:ext cx="3735713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2E3F5E38-91D2-E0EF-9205-0AD4557C517B}"/>
              </a:ext>
            </a:extLst>
          </p:cNvPr>
          <p:cNvSpPr/>
          <p:nvPr/>
        </p:nvSpPr>
        <p:spPr>
          <a:xfrm>
            <a:off x="1532716" y="5085978"/>
            <a:ext cx="374045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77AF387-BF37-3285-94EE-6123013E9A71}"/>
              </a:ext>
            </a:extLst>
          </p:cNvPr>
          <p:cNvSpPr/>
          <p:nvPr/>
        </p:nvSpPr>
        <p:spPr>
          <a:xfrm>
            <a:off x="1794344" y="4073439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1038" name="Picture 1037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AAFB40F0-26D4-0B0A-6E9F-435A176685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37952" y="661863"/>
            <a:ext cx="899592" cy="597854"/>
          </a:xfrm>
          <a:prstGeom prst="rect">
            <a:avLst/>
          </a:prstGeom>
        </p:spPr>
      </p:pic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BB2C0092-BAD0-1F92-6197-010E28FF779E}"/>
              </a:ext>
            </a:extLst>
          </p:cNvPr>
          <p:cNvCxnSpPr>
            <a:cxnSpLocks/>
            <a:stCxn id="1038" idx="2"/>
            <a:endCxn id="1032" idx="0"/>
          </p:cNvCxnSpPr>
          <p:nvPr/>
        </p:nvCxnSpPr>
        <p:spPr>
          <a:xfrm flipH="1">
            <a:off x="3396212" y="1259717"/>
            <a:ext cx="1791536" cy="1169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545280DA-4FAE-0132-6BD3-BC4980FEBBD8}"/>
              </a:ext>
            </a:extLst>
          </p:cNvPr>
          <p:cNvSpPr/>
          <p:nvPr/>
        </p:nvSpPr>
        <p:spPr>
          <a:xfrm>
            <a:off x="6669204" y="2060091"/>
            <a:ext cx="4761738" cy="17946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CF5AAF7-FECF-53A7-F0C9-6503BB69498B}"/>
              </a:ext>
            </a:extLst>
          </p:cNvPr>
          <p:cNvSpPr txBox="1"/>
          <p:nvPr/>
        </p:nvSpPr>
        <p:spPr>
          <a:xfrm>
            <a:off x="7974369" y="1690758"/>
            <a:ext cx="331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End user’s PC (Authenticated)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76FBCC0-A984-6F40-B2C1-3FD2DB0535C9}"/>
              </a:ext>
            </a:extLst>
          </p:cNvPr>
          <p:cNvSpPr txBox="1"/>
          <p:nvPr/>
        </p:nvSpPr>
        <p:spPr>
          <a:xfrm>
            <a:off x="5601187" y="569817"/>
            <a:ext cx="689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LAN</a:t>
            </a:r>
          </a:p>
        </p:txBody>
      </p: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75F87397-A723-B073-39C2-64CD69D2997D}"/>
              </a:ext>
            </a:extLst>
          </p:cNvPr>
          <p:cNvCxnSpPr>
            <a:cxnSpLocks/>
            <a:stCxn id="28" idx="1"/>
            <a:endCxn id="8" idx="3"/>
          </p:cNvCxnSpPr>
          <p:nvPr/>
        </p:nvCxnSpPr>
        <p:spPr>
          <a:xfrm flipH="1">
            <a:off x="5311480" y="2479028"/>
            <a:ext cx="2181462" cy="943618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F10F7DC0-97A1-8D0F-48C4-AFC39345FA94}"/>
              </a:ext>
            </a:extLst>
          </p:cNvPr>
          <p:cNvSpPr txBox="1"/>
          <p:nvPr/>
        </p:nvSpPr>
        <p:spPr>
          <a:xfrm>
            <a:off x="1609737" y="2903442"/>
            <a:ext cx="2750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chemeClr val="accent5"/>
                </a:solidFill>
              </a:rPr>
              <a:t>Localhost Discovery Range</a:t>
            </a:r>
          </a:p>
        </p:txBody>
      </p:sp>
      <p:pic>
        <p:nvPicPr>
          <p:cNvPr id="1063" name="Picture 2" descr="赤色の×マークイラスト素材透過png">
            <a:extLst>
              <a:ext uri="{FF2B5EF4-FFF2-40B4-BE49-F238E27FC236}">
                <a16:creationId xmlns:a16="http://schemas.microsoft.com/office/drawing/2014/main" id="{EA80019D-2B12-4EAD-1695-0152A316A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694" y="4420008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9B86D7-143B-5F1B-DF42-A5492F2434E8}"/>
              </a:ext>
            </a:extLst>
          </p:cNvPr>
          <p:cNvSpPr/>
          <p:nvPr/>
        </p:nvSpPr>
        <p:spPr>
          <a:xfrm>
            <a:off x="1830291" y="3248472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509815-77D5-3C98-C785-99BF85D5B944}"/>
              </a:ext>
            </a:extLst>
          </p:cNvPr>
          <p:cNvSpPr/>
          <p:nvPr/>
        </p:nvSpPr>
        <p:spPr>
          <a:xfrm>
            <a:off x="3040019" y="3678703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E4374-3BAC-4312-1D30-EAB73B7D62BF}"/>
              </a:ext>
            </a:extLst>
          </p:cNvPr>
          <p:cNvSpPr/>
          <p:nvPr/>
        </p:nvSpPr>
        <p:spPr>
          <a:xfrm>
            <a:off x="3019796" y="4402531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133E0-4028-AC8C-42E5-E56677BBD57C}"/>
              </a:ext>
            </a:extLst>
          </p:cNvPr>
          <p:cNvSpPr/>
          <p:nvPr/>
        </p:nvSpPr>
        <p:spPr>
          <a:xfrm>
            <a:off x="4249747" y="3178385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A17DA8-BCDE-35ED-D67D-A501C1697368}"/>
              </a:ext>
            </a:extLst>
          </p:cNvPr>
          <p:cNvSpPr/>
          <p:nvPr/>
        </p:nvSpPr>
        <p:spPr>
          <a:xfrm>
            <a:off x="4249747" y="3854694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E637E-139F-B0A9-54F1-3A5C6E19B7A5}"/>
              </a:ext>
            </a:extLst>
          </p:cNvPr>
          <p:cNvSpPr/>
          <p:nvPr/>
        </p:nvSpPr>
        <p:spPr>
          <a:xfrm>
            <a:off x="1637857" y="2861471"/>
            <a:ext cx="3096341" cy="210531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F81F8-34AD-874D-141A-86A1F20589E0}"/>
              </a:ext>
            </a:extLst>
          </p:cNvPr>
          <p:cNvSpPr/>
          <p:nvPr/>
        </p:nvSpPr>
        <p:spPr>
          <a:xfrm>
            <a:off x="6916772" y="3367662"/>
            <a:ext cx="3002934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22EE88-26FB-C5A8-2E50-66CFAF9D268D}"/>
              </a:ext>
            </a:extLst>
          </p:cNvPr>
          <p:cNvSpPr/>
          <p:nvPr/>
        </p:nvSpPr>
        <p:spPr>
          <a:xfrm>
            <a:off x="6912026" y="2920081"/>
            <a:ext cx="300674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0173B3-04D6-A5E5-A484-020BC28362CC}"/>
              </a:ext>
            </a:extLst>
          </p:cNvPr>
          <p:cNvSpPr/>
          <p:nvPr/>
        </p:nvSpPr>
        <p:spPr>
          <a:xfrm>
            <a:off x="10011636" y="2907794"/>
            <a:ext cx="1131271" cy="829199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B5475D-F2EF-1DB7-E63D-DF890DB19FA4}"/>
              </a:ext>
            </a:extLst>
          </p:cNvPr>
          <p:cNvSpPr/>
          <p:nvPr/>
        </p:nvSpPr>
        <p:spPr>
          <a:xfrm>
            <a:off x="7492942" y="2234767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8AD6D2-4408-56C5-A100-54E7C51F3DB7}"/>
              </a:ext>
            </a:extLst>
          </p:cNvPr>
          <p:cNvSpPr/>
          <p:nvPr/>
        </p:nvSpPr>
        <p:spPr>
          <a:xfrm>
            <a:off x="8867148" y="2249473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DF77F6-1663-FC33-49BE-01354A3BB318}"/>
              </a:ext>
            </a:extLst>
          </p:cNvPr>
          <p:cNvSpPr/>
          <p:nvPr/>
        </p:nvSpPr>
        <p:spPr>
          <a:xfrm>
            <a:off x="6693249" y="4501005"/>
            <a:ext cx="4761738" cy="17946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798303-1362-0939-8B25-408694950FC5}"/>
              </a:ext>
            </a:extLst>
          </p:cNvPr>
          <p:cNvSpPr txBox="1"/>
          <p:nvPr/>
        </p:nvSpPr>
        <p:spPr>
          <a:xfrm>
            <a:off x="7998414" y="4131672"/>
            <a:ext cx="255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End user’s PC / Device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FE7D1DDF-63B0-8A73-52E7-3D1DCBA9D669}"/>
              </a:ext>
            </a:extLst>
          </p:cNvPr>
          <p:cNvSpPr/>
          <p:nvPr/>
        </p:nvSpPr>
        <p:spPr>
          <a:xfrm>
            <a:off x="6940817" y="5808576"/>
            <a:ext cx="3002934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E5ACA9A2-1510-4756-2BDE-8F7FEB665157}"/>
              </a:ext>
            </a:extLst>
          </p:cNvPr>
          <p:cNvSpPr/>
          <p:nvPr/>
        </p:nvSpPr>
        <p:spPr>
          <a:xfrm>
            <a:off x="6936071" y="5360995"/>
            <a:ext cx="300674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521CE697-38A9-4310-3108-C432773B87FA}"/>
              </a:ext>
            </a:extLst>
          </p:cNvPr>
          <p:cNvSpPr/>
          <p:nvPr/>
        </p:nvSpPr>
        <p:spPr>
          <a:xfrm>
            <a:off x="10035681" y="5348708"/>
            <a:ext cx="1131271" cy="829199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45EB26BD-2750-B389-A4C2-1AAA263053EC}"/>
              </a:ext>
            </a:extLst>
          </p:cNvPr>
          <p:cNvSpPr/>
          <p:nvPr/>
        </p:nvSpPr>
        <p:spPr>
          <a:xfrm>
            <a:off x="7516987" y="4675681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17EF0C93-E3D8-8A92-DA49-9E93898C92CA}"/>
              </a:ext>
            </a:extLst>
          </p:cNvPr>
          <p:cNvSpPr/>
          <p:nvPr/>
        </p:nvSpPr>
        <p:spPr>
          <a:xfrm>
            <a:off x="8891193" y="4690387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36F40374-111F-D35C-2F07-A7581CAC9F15}"/>
              </a:ext>
            </a:extLst>
          </p:cNvPr>
          <p:cNvCxnSpPr>
            <a:cxnSpLocks/>
            <a:stCxn id="1038" idx="2"/>
            <a:endCxn id="1050" idx="1"/>
          </p:cNvCxnSpPr>
          <p:nvPr/>
        </p:nvCxnSpPr>
        <p:spPr>
          <a:xfrm>
            <a:off x="5187748" y="1259717"/>
            <a:ext cx="1481456" cy="1697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33E7747B-6B7D-DBB3-811D-A196374DD3E6}"/>
              </a:ext>
            </a:extLst>
          </p:cNvPr>
          <p:cNvCxnSpPr>
            <a:cxnSpLocks/>
            <a:stCxn id="1038" idx="2"/>
            <a:endCxn id="30" idx="1"/>
          </p:cNvCxnSpPr>
          <p:nvPr/>
        </p:nvCxnSpPr>
        <p:spPr>
          <a:xfrm>
            <a:off x="5187748" y="1259717"/>
            <a:ext cx="1505501" cy="4138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BA5DE70B-8727-3035-DB5A-ABCFD284CC42}"/>
              </a:ext>
            </a:extLst>
          </p:cNvPr>
          <p:cNvCxnSpPr>
            <a:cxnSpLocks/>
            <a:stCxn id="29" idx="1"/>
            <a:endCxn id="9" idx="3"/>
          </p:cNvCxnSpPr>
          <p:nvPr/>
        </p:nvCxnSpPr>
        <p:spPr>
          <a:xfrm flipH="1">
            <a:off x="5311480" y="2493734"/>
            <a:ext cx="3555668" cy="1605221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D4461A93-ACB5-4293-9610-D9259269432B}"/>
              </a:ext>
            </a:extLst>
          </p:cNvPr>
          <p:cNvSpPr txBox="1"/>
          <p:nvPr/>
        </p:nvSpPr>
        <p:spPr>
          <a:xfrm>
            <a:off x="4178949" y="2192509"/>
            <a:ext cx="3298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rgbClr val="0000FF"/>
                </a:solidFill>
              </a:rPr>
              <a:t>Participant / Endpoint Discovery</a:t>
            </a:r>
          </a:p>
          <a:p>
            <a:r>
              <a:rPr lang="en-US" sz="1600" b="1" i="1" u="sng" dirty="0">
                <a:solidFill>
                  <a:srgbClr val="0000FF"/>
                </a:solidFill>
              </a:rPr>
              <a:t>Endpoint Permission Control</a:t>
            </a:r>
          </a:p>
          <a:p>
            <a:r>
              <a:rPr lang="en-US" sz="1600" b="1" i="1" u="sng" dirty="0">
                <a:solidFill>
                  <a:srgbClr val="0000FF"/>
                </a:solidFill>
              </a:rPr>
              <a:t>Encrypted Data Transmission</a:t>
            </a:r>
          </a:p>
        </p:txBody>
      </p:sp>
      <p:sp>
        <p:nvSpPr>
          <p:cNvPr id="1074" name="Arrow: Right 1073">
            <a:extLst>
              <a:ext uri="{FF2B5EF4-FFF2-40B4-BE49-F238E27FC236}">
                <a16:creationId xmlns:a16="http://schemas.microsoft.com/office/drawing/2014/main" id="{27669AD7-BBEA-C576-ACE6-F75B519396BF}"/>
              </a:ext>
            </a:extLst>
          </p:cNvPr>
          <p:cNvSpPr/>
          <p:nvPr/>
        </p:nvSpPr>
        <p:spPr>
          <a:xfrm rot="11844589">
            <a:off x="5551768" y="4541573"/>
            <a:ext cx="1693321" cy="420231"/>
          </a:xfrm>
          <a:prstGeom prst="rightArrow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C0A92CC9-9E2E-F9E1-1461-2D855FDDD5F3}"/>
              </a:ext>
            </a:extLst>
          </p:cNvPr>
          <p:cNvSpPr txBox="1"/>
          <p:nvPr/>
        </p:nvSpPr>
        <p:spPr>
          <a:xfrm>
            <a:off x="5352844" y="4975709"/>
            <a:ext cx="1971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rgbClr val="FF0000"/>
                </a:solidFill>
              </a:rPr>
              <a:t>No Discovery at all</a:t>
            </a:r>
          </a:p>
        </p:txBody>
      </p:sp>
    </p:spTree>
    <p:extLst>
      <p:ext uri="{BB962C8B-B14F-4D97-AF65-F5344CB8AC3E}">
        <p14:creationId xmlns:p14="http://schemas.microsoft.com/office/powerpoint/2010/main" val="257678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91B7B3E-1E2F-286D-CD32-FDC968AEB748}"/>
              </a:ext>
            </a:extLst>
          </p:cNvPr>
          <p:cNvSpPr/>
          <p:nvPr/>
        </p:nvSpPr>
        <p:spPr>
          <a:xfrm>
            <a:off x="1277814" y="2429422"/>
            <a:ext cx="4236795" cy="359265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AA9F5247-18B8-C09A-510C-008F3C7FE664}"/>
              </a:ext>
            </a:extLst>
          </p:cNvPr>
          <p:cNvSpPr txBox="1"/>
          <p:nvPr/>
        </p:nvSpPr>
        <p:spPr>
          <a:xfrm>
            <a:off x="1174688" y="2050101"/>
            <a:ext cx="1875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Awesome robot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B7E1AF7-4B5F-5BAB-40BC-015DD2EEAABB}"/>
              </a:ext>
            </a:extLst>
          </p:cNvPr>
          <p:cNvSpPr/>
          <p:nvPr/>
        </p:nvSpPr>
        <p:spPr>
          <a:xfrm>
            <a:off x="1537461" y="5533559"/>
            <a:ext cx="3735713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2E3F5E38-91D2-E0EF-9205-0AD4557C517B}"/>
              </a:ext>
            </a:extLst>
          </p:cNvPr>
          <p:cNvSpPr/>
          <p:nvPr/>
        </p:nvSpPr>
        <p:spPr>
          <a:xfrm>
            <a:off x="1532716" y="5085978"/>
            <a:ext cx="374045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77AF387-BF37-3285-94EE-6123013E9A71}"/>
              </a:ext>
            </a:extLst>
          </p:cNvPr>
          <p:cNvSpPr/>
          <p:nvPr/>
        </p:nvSpPr>
        <p:spPr>
          <a:xfrm>
            <a:off x="1794344" y="4073439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1038" name="Picture 1037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AAFB40F0-26D4-0B0A-6E9F-435A176685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37952" y="661863"/>
            <a:ext cx="899592" cy="597854"/>
          </a:xfrm>
          <a:prstGeom prst="rect">
            <a:avLst/>
          </a:prstGeom>
        </p:spPr>
      </p:pic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BB2C0092-BAD0-1F92-6197-010E28FF779E}"/>
              </a:ext>
            </a:extLst>
          </p:cNvPr>
          <p:cNvCxnSpPr>
            <a:cxnSpLocks/>
            <a:stCxn id="1038" idx="2"/>
            <a:endCxn id="1032" idx="0"/>
          </p:cNvCxnSpPr>
          <p:nvPr/>
        </p:nvCxnSpPr>
        <p:spPr>
          <a:xfrm flipH="1">
            <a:off x="3396212" y="1259717"/>
            <a:ext cx="1791536" cy="1169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545280DA-4FAE-0132-6BD3-BC4980FEBBD8}"/>
              </a:ext>
            </a:extLst>
          </p:cNvPr>
          <p:cNvSpPr/>
          <p:nvPr/>
        </p:nvSpPr>
        <p:spPr>
          <a:xfrm>
            <a:off x="6669204" y="2060091"/>
            <a:ext cx="4761738" cy="17946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CF5AAF7-FECF-53A7-F0C9-6503BB69498B}"/>
              </a:ext>
            </a:extLst>
          </p:cNvPr>
          <p:cNvSpPr txBox="1"/>
          <p:nvPr/>
        </p:nvSpPr>
        <p:spPr>
          <a:xfrm>
            <a:off x="7974369" y="1690758"/>
            <a:ext cx="331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End user’s PC (Authenticated)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76FBCC0-A984-6F40-B2C1-3FD2DB0535C9}"/>
              </a:ext>
            </a:extLst>
          </p:cNvPr>
          <p:cNvSpPr txBox="1"/>
          <p:nvPr/>
        </p:nvSpPr>
        <p:spPr>
          <a:xfrm>
            <a:off x="5601187" y="569817"/>
            <a:ext cx="689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LAN</a:t>
            </a:r>
          </a:p>
        </p:txBody>
      </p: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75F87397-A723-B073-39C2-64CD69D2997D}"/>
              </a:ext>
            </a:extLst>
          </p:cNvPr>
          <p:cNvCxnSpPr>
            <a:cxnSpLocks/>
            <a:stCxn id="28" idx="1"/>
            <a:endCxn id="8" idx="3"/>
          </p:cNvCxnSpPr>
          <p:nvPr/>
        </p:nvCxnSpPr>
        <p:spPr>
          <a:xfrm flipH="1">
            <a:off x="5311480" y="2479028"/>
            <a:ext cx="2181462" cy="1570601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F10F7DC0-97A1-8D0F-48C4-AFC39345FA94}"/>
              </a:ext>
            </a:extLst>
          </p:cNvPr>
          <p:cNvSpPr txBox="1"/>
          <p:nvPr/>
        </p:nvSpPr>
        <p:spPr>
          <a:xfrm>
            <a:off x="1609737" y="2903442"/>
            <a:ext cx="2750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chemeClr val="accent5"/>
                </a:solidFill>
              </a:rPr>
              <a:t>Localhost Discovery Range</a:t>
            </a:r>
          </a:p>
        </p:txBody>
      </p:sp>
      <p:pic>
        <p:nvPicPr>
          <p:cNvPr id="1063" name="Picture 2" descr="赤色の×マークイラスト素材透過png">
            <a:extLst>
              <a:ext uri="{FF2B5EF4-FFF2-40B4-BE49-F238E27FC236}">
                <a16:creationId xmlns:a16="http://schemas.microsoft.com/office/drawing/2014/main" id="{EA80019D-2B12-4EAD-1695-0152A316A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694" y="4420008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9B86D7-143B-5F1B-DF42-A5492F2434E8}"/>
              </a:ext>
            </a:extLst>
          </p:cNvPr>
          <p:cNvSpPr/>
          <p:nvPr/>
        </p:nvSpPr>
        <p:spPr>
          <a:xfrm>
            <a:off x="1830291" y="3248472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E4374-3BAC-4312-1D30-EAB73B7D62BF}"/>
              </a:ext>
            </a:extLst>
          </p:cNvPr>
          <p:cNvSpPr/>
          <p:nvPr/>
        </p:nvSpPr>
        <p:spPr>
          <a:xfrm>
            <a:off x="3019796" y="4402531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133E0-4028-AC8C-42E5-E56677BBD57C}"/>
              </a:ext>
            </a:extLst>
          </p:cNvPr>
          <p:cNvSpPr/>
          <p:nvPr/>
        </p:nvSpPr>
        <p:spPr>
          <a:xfrm>
            <a:off x="4249747" y="3805368"/>
            <a:ext cx="1061733" cy="488522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DDS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Router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E637E-139F-B0A9-54F1-3A5C6E19B7A5}"/>
              </a:ext>
            </a:extLst>
          </p:cNvPr>
          <p:cNvSpPr/>
          <p:nvPr/>
        </p:nvSpPr>
        <p:spPr>
          <a:xfrm>
            <a:off x="1637857" y="2861471"/>
            <a:ext cx="3096341" cy="210531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F81F8-34AD-874D-141A-86A1F20589E0}"/>
              </a:ext>
            </a:extLst>
          </p:cNvPr>
          <p:cNvSpPr/>
          <p:nvPr/>
        </p:nvSpPr>
        <p:spPr>
          <a:xfrm>
            <a:off x="6916772" y="3367662"/>
            <a:ext cx="3002934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22EE88-26FB-C5A8-2E50-66CFAF9D268D}"/>
              </a:ext>
            </a:extLst>
          </p:cNvPr>
          <p:cNvSpPr/>
          <p:nvPr/>
        </p:nvSpPr>
        <p:spPr>
          <a:xfrm>
            <a:off x="6912026" y="2920081"/>
            <a:ext cx="300674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0173B3-04D6-A5E5-A484-020BC28362CC}"/>
              </a:ext>
            </a:extLst>
          </p:cNvPr>
          <p:cNvSpPr/>
          <p:nvPr/>
        </p:nvSpPr>
        <p:spPr>
          <a:xfrm>
            <a:off x="10011636" y="2907794"/>
            <a:ext cx="1131271" cy="829199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B5475D-F2EF-1DB7-E63D-DF890DB19FA4}"/>
              </a:ext>
            </a:extLst>
          </p:cNvPr>
          <p:cNvSpPr/>
          <p:nvPr/>
        </p:nvSpPr>
        <p:spPr>
          <a:xfrm>
            <a:off x="7492942" y="2234767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8AD6D2-4408-56C5-A100-54E7C51F3DB7}"/>
              </a:ext>
            </a:extLst>
          </p:cNvPr>
          <p:cNvSpPr/>
          <p:nvPr/>
        </p:nvSpPr>
        <p:spPr>
          <a:xfrm>
            <a:off x="8867148" y="2249473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DF77F6-1663-FC33-49BE-01354A3BB318}"/>
              </a:ext>
            </a:extLst>
          </p:cNvPr>
          <p:cNvSpPr/>
          <p:nvPr/>
        </p:nvSpPr>
        <p:spPr>
          <a:xfrm>
            <a:off x="6693249" y="4501005"/>
            <a:ext cx="4761738" cy="17946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798303-1362-0939-8B25-408694950FC5}"/>
              </a:ext>
            </a:extLst>
          </p:cNvPr>
          <p:cNvSpPr txBox="1"/>
          <p:nvPr/>
        </p:nvSpPr>
        <p:spPr>
          <a:xfrm>
            <a:off x="7998414" y="4131672"/>
            <a:ext cx="255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End user’s PC / Device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FE7D1DDF-63B0-8A73-52E7-3D1DCBA9D669}"/>
              </a:ext>
            </a:extLst>
          </p:cNvPr>
          <p:cNvSpPr/>
          <p:nvPr/>
        </p:nvSpPr>
        <p:spPr>
          <a:xfrm>
            <a:off x="6940817" y="5808576"/>
            <a:ext cx="3002934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E5ACA9A2-1510-4756-2BDE-8F7FEB665157}"/>
              </a:ext>
            </a:extLst>
          </p:cNvPr>
          <p:cNvSpPr/>
          <p:nvPr/>
        </p:nvSpPr>
        <p:spPr>
          <a:xfrm>
            <a:off x="6936071" y="5360995"/>
            <a:ext cx="300674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521CE697-38A9-4310-3108-C432773B87FA}"/>
              </a:ext>
            </a:extLst>
          </p:cNvPr>
          <p:cNvSpPr/>
          <p:nvPr/>
        </p:nvSpPr>
        <p:spPr>
          <a:xfrm>
            <a:off x="10035681" y="5348708"/>
            <a:ext cx="1131271" cy="829199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45EB26BD-2750-B389-A4C2-1AAA263053EC}"/>
              </a:ext>
            </a:extLst>
          </p:cNvPr>
          <p:cNvSpPr/>
          <p:nvPr/>
        </p:nvSpPr>
        <p:spPr>
          <a:xfrm>
            <a:off x="7516987" y="4675681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17EF0C93-E3D8-8A92-DA49-9E93898C92CA}"/>
              </a:ext>
            </a:extLst>
          </p:cNvPr>
          <p:cNvSpPr/>
          <p:nvPr/>
        </p:nvSpPr>
        <p:spPr>
          <a:xfrm>
            <a:off x="8891193" y="4690387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36F40374-111F-D35C-2F07-A7581CAC9F15}"/>
              </a:ext>
            </a:extLst>
          </p:cNvPr>
          <p:cNvCxnSpPr>
            <a:cxnSpLocks/>
            <a:stCxn id="1038" idx="2"/>
            <a:endCxn id="1050" idx="1"/>
          </p:cNvCxnSpPr>
          <p:nvPr/>
        </p:nvCxnSpPr>
        <p:spPr>
          <a:xfrm>
            <a:off x="5187748" y="1259717"/>
            <a:ext cx="1481456" cy="16976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33E7747B-6B7D-DBB3-811D-A196374DD3E6}"/>
              </a:ext>
            </a:extLst>
          </p:cNvPr>
          <p:cNvCxnSpPr>
            <a:cxnSpLocks/>
            <a:stCxn id="1038" idx="2"/>
            <a:endCxn id="30" idx="1"/>
          </p:cNvCxnSpPr>
          <p:nvPr/>
        </p:nvCxnSpPr>
        <p:spPr>
          <a:xfrm>
            <a:off x="5187748" y="1259717"/>
            <a:ext cx="1505501" cy="4138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BA5DE70B-8727-3035-DB5A-ABCFD284CC42}"/>
              </a:ext>
            </a:extLst>
          </p:cNvPr>
          <p:cNvCxnSpPr>
            <a:cxnSpLocks/>
            <a:stCxn id="29" idx="1"/>
            <a:endCxn id="8" idx="3"/>
          </p:cNvCxnSpPr>
          <p:nvPr/>
        </p:nvCxnSpPr>
        <p:spPr>
          <a:xfrm flipH="1">
            <a:off x="5311480" y="2493734"/>
            <a:ext cx="3555668" cy="1555895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D4461A93-ACB5-4293-9610-D9259269432B}"/>
              </a:ext>
            </a:extLst>
          </p:cNvPr>
          <p:cNvSpPr txBox="1"/>
          <p:nvPr/>
        </p:nvSpPr>
        <p:spPr>
          <a:xfrm>
            <a:off x="2856077" y="3146464"/>
            <a:ext cx="2477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u="sng" dirty="0">
                <a:solidFill>
                  <a:schemeClr val="bg2"/>
                </a:solidFill>
              </a:rPr>
              <a:t>Localhost only</a:t>
            </a:r>
          </a:p>
          <a:p>
            <a:r>
              <a:rPr lang="en-US" sz="1200" b="1" i="1" u="sng" dirty="0">
                <a:solidFill>
                  <a:schemeClr val="bg2"/>
                </a:solidFill>
              </a:rPr>
              <a:t>No security enclaves</a:t>
            </a:r>
          </a:p>
          <a:p>
            <a:r>
              <a:rPr lang="en-US" sz="1200" b="1" i="1" u="sng" dirty="0">
                <a:solidFill>
                  <a:schemeClr val="bg2"/>
                </a:solidFill>
              </a:rPr>
              <a:t>Only specific topics are exposed</a:t>
            </a:r>
          </a:p>
        </p:txBody>
      </p:sp>
      <p:sp>
        <p:nvSpPr>
          <p:cNvPr id="1074" name="Arrow: Right 1073">
            <a:extLst>
              <a:ext uri="{FF2B5EF4-FFF2-40B4-BE49-F238E27FC236}">
                <a16:creationId xmlns:a16="http://schemas.microsoft.com/office/drawing/2014/main" id="{27669AD7-BBEA-C576-ACE6-F75B519396BF}"/>
              </a:ext>
            </a:extLst>
          </p:cNvPr>
          <p:cNvSpPr/>
          <p:nvPr/>
        </p:nvSpPr>
        <p:spPr>
          <a:xfrm rot="11844589">
            <a:off x="5551768" y="4541573"/>
            <a:ext cx="1693321" cy="420231"/>
          </a:xfrm>
          <a:prstGeom prst="rightArrow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C0A92CC9-9E2E-F9E1-1461-2D855FDDD5F3}"/>
              </a:ext>
            </a:extLst>
          </p:cNvPr>
          <p:cNvSpPr txBox="1"/>
          <p:nvPr/>
        </p:nvSpPr>
        <p:spPr>
          <a:xfrm>
            <a:off x="5352844" y="4975709"/>
            <a:ext cx="1971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rgbClr val="FF0000"/>
                </a:solidFill>
              </a:rPr>
              <a:t>No Discovery at 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33959-442E-C2FB-0D01-1ADE6E4D2FE5}"/>
              </a:ext>
            </a:extLst>
          </p:cNvPr>
          <p:cNvSpPr txBox="1"/>
          <p:nvPr/>
        </p:nvSpPr>
        <p:spPr>
          <a:xfrm>
            <a:off x="5236131" y="3999581"/>
            <a:ext cx="1524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u="sng" dirty="0">
                <a:solidFill>
                  <a:schemeClr val="bg2"/>
                </a:solidFill>
              </a:rPr>
              <a:t>Secured by SROS 2</a:t>
            </a:r>
          </a:p>
        </p:txBody>
      </p:sp>
    </p:spTree>
    <p:extLst>
      <p:ext uri="{BB962C8B-B14F-4D97-AF65-F5344CB8AC3E}">
        <p14:creationId xmlns:p14="http://schemas.microsoft.com/office/powerpoint/2010/main" val="237234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1031">
            <a:extLst>
              <a:ext uri="{FF2B5EF4-FFF2-40B4-BE49-F238E27FC236}">
                <a16:creationId xmlns:a16="http://schemas.microsoft.com/office/drawing/2014/main" id="{491B7B3E-1E2F-286D-CD32-FDC968AEB748}"/>
              </a:ext>
            </a:extLst>
          </p:cNvPr>
          <p:cNvSpPr/>
          <p:nvPr/>
        </p:nvSpPr>
        <p:spPr>
          <a:xfrm>
            <a:off x="1277814" y="2429422"/>
            <a:ext cx="4236795" cy="359265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AA9F5247-18B8-C09A-510C-008F3C7FE664}"/>
              </a:ext>
            </a:extLst>
          </p:cNvPr>
          <p:cNvSpPr txBox="1"/>
          <p:nvPr/>
        </p:nvSpPr>
        <p:spPr>
          <a:xfrm>
            <a:off x="1174688" y="2050101"/>
            <a:ext cx="1875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Awesome robot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B7E1AF7-4B5F-5BAB-40BC-015DD2EEAABB}"/>
              </a:ext>
            </a:extLst>
          </p:cNvPr>
          <p:cNvSpPr/>
          <p:nvPr/>
        </p:nvSpPr>
        <p:spPr>
          <a:xfrm>
            <a:off x="1537461" y="5533559"/>
            <a:ext cx="3735713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2E3F5E38-91D2-E0EF-9205-0AD4557C517B}"/>
              </a:ext>
            </a:extLst>
          </p:cNvPr>
          <p:cNvSpPr/>
          <p:nvPr/>
        </p:nvSpPr>
        <p:spPr>
          <a:xfrm>
            <a:off x="1532716" y="5085978"/>
            <a:ext cx="374045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977AF387-BF37-3285-94EE-6123013E9A71}"/>
              </a:ext>
            </a:extLst>
          </p:cNvPr>
          <p:cNvSpPr/>
          <p:nvPr/>
        </p:nvSpPr>
        <p:spPr>
          <a:xfrm>
            <a:off x="1794344" y="4073439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1038" name="Picture 1037" descr="A blue circular object with arrows&#10;&#10;Description automatically generated">
            <a:extLst>
              <a:ext uri="{FF2B5EF4-FFF2-40B4-BE49-F238E27FC236}">
                <a16:creationId xmlns:a16="http://schemas.microsoft.com/office/drawing/2014/main" id="{AAFB40F0-26D4-0B0A-6E9F-435A176685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37952" y="661863"/>
            <a:ext cx="899592" cy="597854"/>
          </a:xfrm>
          <a:prstGeom prst="rect">
            <a:avLst/>
          </a:prstGeom>
        </p:spPr>
      </p:pic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BB2C0092-BAD0-1F92-6197-010E28FF779E}"/>
              </a:ext>
            </a:extLst>
          </p:cNvPr>
          <p:cNvCxnSpPr>
            <a:cxnSpLocks/>
            <a:stCxn id="1038" idx="2"/>
            <a:endCxn id="1032" idx="0"/>
          </p:cNvCxnSpPr>
          <p:nvPr/>
        </p:nvCxnSpPr>
        <p:spPr>
          <a:xfrm flipH="1">
            <a:off x="3396212" y="1259717"/>
            <a:ext cx="1791536" cy="1169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545280DA-4FAE-0132-6BD3-BC4980FEBBD8}"/>
              </a:ext>
            </a:extLst>
          </p:cNvPr>
          <p:cNvSpPr/>
          <p:nvPr/>
        </p:nvSpPr>
        <p:spPr>
          <a:xfrm>
            <a:off x="6669204" y="1325578"/>
            <a:ext cx="4761738" cy="252911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CF5AAF7-FECF-53A7-F0C9-6503BB69498B}"/>
              </a:ext>
            </a:extLst>
          </p:cNvPr>
          <p:cNvSpPr txBox="1"/>
          <p:nvPr/>
        </p:nvSpPr>
        <p:spPr>
          <a:xfrm>
            <a:off x="7974369" y="909514"/>
            <a:ext cx="331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End user’s PC (Authenticated)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D76FBCC0-A984-6F40-B2C1-3FD2DB0535C9}"/>
              </a:ext>
            </a:extLst>
          </p:cNvPr>
          <p:cNvSpPr txBox="1"/>
          <p:nvPr/>
        </p:nvSpPr>
        <p:spPr>
          <a:xfrm>
            <a:off x="5601187" y="569817"/>
            <a:ext cx="6896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LAN</a:t>
            </a:r>
          </a:p>
        </p:txBody>
      </p: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75F87397-A723-B073-39C2-64CD69D2997D}"/>
              </a:ext>
            </a:extLst>
          </p:cNvPr>
          <p:cNvCxnSpPr>
            <a:cxnSpLocks/>
            <a:stCxn id="28" idx="1"/>
            <a:endCxn id="2" idx="3"/>
          </p:cNvCxnSpPr>
          <p:nvPr/>
        </p:nvCxnSpPr>
        <p:spPr>
          <a:xfrm flipH="1">
            <a:off x="8359042" y="1791094"/>
            <a:ext cx="1063017" cy="350961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62" name="TextBox 1061">
            <a:extLst>
              <a:ext uri="{FF2B5EF4-FFF2-40B4-BE49-F238E27FC236}">
                <a16:creationId xmlns:a16="http://schemas.microsoft.com/office/drawing/2014/main" id="{F10F7DC0-97A1-8D0F-48C4-AFC39345FA94}"/>
              </a:ext>
            </a:extLst>
          </p:cNvPr>
          <p:cNvSpPr txBox="1"/>
          <p:nvPr/>
        </p:nvSpPr>
        <p:spPr>
          <a:xfrm>
            <a:off x="1609737" y="2903442"/>
            <a:ext cx="2750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chemeClr val="accent5"/>
                </a:solidFill>
              </a:rPr>
              <a:t>Localhost Discovery Range</a:t>
            </a:r>
          </a:p>
        </p:txBody>
      </p:sp>
      <p:pic>
        <p:nvPicPr>
          <p:cNvPr id="1063" name="Picture 2" descr="赤色の×マークイラスト素材透過png">
            <a:extLst>
              <a:ext uri="{FF2B5EF4-FFF2-40B4-BE49-F238E27FC236}">
                <a16:creationId xmlns:a16="http://schemas.microsoft.com/office/drawing/2014/main" id="{EA80019D-2B12-4EAD-1695-0152A316A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694" y="4420008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9B86D7-143B-5F1B-DF42-A5492F2434E8}"/>
              </a:ext>
            </a:extLst>
          </p:cNvPr>
          <p:cNvSpPr/>
          <p:nvPr/>
        </p:nvSpPr>
        <p:spPr>
          <a:xfrm>
            <a:off x="1830291" y="3248472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E4374-3BAC-4312-1D30-EAB73B7D62BF}"/>
              </a:ext>
            </a:extLst>
          </p:cNvPr>
          <p:cNvSpPr/>
          <p:nvPr/>
        </p:nvSpPr>
        <p:spPr>
          <a:xfrm>
            <a:off x="3019796" y="4402531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F133E0-4028-AC8C-42E5-E56677BBD57C}"/>
              </a:ext>
            </a:extLst>
          </p:cNvPr>
          <p:cNvSpPr/>
          <p:nvPr/>
        </p:nvSpPr>
        <p:spPr>
          <a:xfrm>
            <a:off x="3882583" y="3805368"/>
            <a:ext cx="1505501" cy="488522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DDS </a:t>
            </a:r>
            <a:r>
              <a:rPr lang="en-US" sz="1400" dirty="0">
                <a:solidFill>
                  <a:schemeClr val="tx1"/>
                </a:solidFill>
              </a:rPr>
              <a:t>Router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(Server)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E637E-139F-B0A9-54F1-3A5C6E19B7A5}"/>
              </a:ext>
            </a:extLst>
          </p:cNvPr>
          <p:cNvSpPr/>
          <p:nvPr/>
        </p:nvSpPr>
        <p:spPr>
          <a:xfrm>
            <a:off x="1637857" y="2861471"/>
            <a:ext cx="3096341" cy="2105317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6F81F8-34AD-874D-141A-86A1F20589E0}"/>
              </a:ext>
            </a:extLst>
          </p:cNvPr>
          <p:cNvSpPr/>
          <p:nvPr/>
        </p:nvSpPr>
        <p:spPr>
          <a:xfrm>
            <a:off x="6916772" y="3367662"/>
            <a:ext cx="3002934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22EE88-26FB-C5A8-2E50-66CFAF9D268D}"/>
              </a:ext>
            </a:extLst>
          </p:cNvPr>
          <p:cNvSpPr/>
          <p:nvPr/>
        </p:nvSpPr>
        <p:spPr>
          <a:xfrm>
            <a:off x="6912026" y="2920081"/>
            <a:ext cx="300674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0173B3-04D6-A5E5-A484-020BC28362CC}"/>
              </a:ext>
            </a:extLst>
          </p:cNvPr>
          <p:cNvSpPr/>
          <p:nvPr/>
        </p:nvSpPr>
        <p:spPr>
          <a:xfrm>
            <a:off x="10011636" y="2907794"/>
            <a:ext cx="1131271" cy="829199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B5475D-F2EF-1DB7-E63D-DF890DB19FA4}"/>
              </a:ext>
            </a:extLst>
          </p:cNvPr>
          <p:cNvSpPr/>
          <p:nvPr/>
        </p:nvSpPr>
        <p:spPr>
          <a:xfrm>
            <a:off x="9422059" y="1670026"/>
            <a:ext cx="1643851" cy="24213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 </a:t>
            </a:r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DF77F6-1663-FC33-49BE-01354A3BB318}"/>
              </a:ext>
            </a:extLst>
          </p:cNvPr>
          <p:cNvSpPr/>
          <p:nvPr/>
        </p:nvSpPr>
        <p:spPr>
          <a:xfrm>
            <a:off x="6693249" y="4501005"/>
            <a:ext cx="4761738" cy="17946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798303-1362-0939-8B25-408694950FC5}"/>
              </a:ext>
            </a:extLst>
          </p:cNvPr>
          <p:cNvSpPr txBox="1"/>
          <p:nvPr/>
        </p:nvSpPr>
        <p:spPr>
          <a:xfrm>
            <a:off x="7998414" y="4131672"/>
            <a:ext cx="255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End user’s PC / Device</a:t>
            </a: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FE7D1DDF-63B0-8A73-52E7-3D1DCBA9D669}"/>
              </a:ext>
            </a:extLst>
          </p:cNvPr>
          <p:cNvSpPr/>
          <p:nvPr/>
        </p:nvSpPr>
        <p:spPr>
          <a:xfrm>
            <a:off x="6940817" y="5808576"/>
            <a:ext cx="3002934" cy="3693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Fast-DDS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E5ACA9A2-1510-4756-2BDE-8F7FEB665157}"/>
              </a:ext>
            </a:extLst>
          </p:cNvPr>
          <p:cNvSpPr/>
          <p:nvPr/>
        </p:nvSpPr>
        <p:spPr>
          <a:xfrm>
            <a:off x="6936071" y="5360995"/>
            <a:ext cx="3006748" cy="36933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rmw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</a:t>
            </a:r>
            <a:r>
              <a:rPr lang="en-US" sz="1400" dirty="0">
                <a:solidFill>
                  <a:schemeClr val="tx1"/>
                </a:solidFill>
              </a:rPr>
              <a:t> /</a:t>
            </a:r>
            <a:r>
              <a:rPr lang="en-US" sz="1400" dirty="0" err="1">
                <a:solidFill>
                  <a:schemeClr val="tx1"/>
                </a:solidFill>
              </a:rPr>
              <a:t>rclcpp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6" name="Rectangle 1025">
            <a:extLst>
              <a:ext uri="{FF2B5EF4-FFF2-40B4-BE49-F238E27FC236}">
                <a16:creationId xmlns:a16="http://schemas.microsoft.com/office/drawing/2014/main" id="{521CE697-38A9-4310-3108-C432773B87FA}"/>
              </a:ext>
            </a:extLst>
          </p:cNvPr>
          <p:cNvSpPr/>
          <p:nvPr/>
        </p:nvSpPr>
        <p:spPr>
          <a:xfrm>
            <a:off x="10035681" y="5348708"/>
            <a:ext cx="1131271" cy="829199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45EB26BD-2750-B389-A4C2-1AAA263053EC}"/>
              </a:ext>
            </a:extLst>
          </p:cNvPr>
          <p:cNvSpPr/>
          <p:nvPr/>
        </p:nvSpPr>
        <p:spPr>
          <a:xfrm>
            <a:off x="7516987" y="4675681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028" name="Rectangle 1027">
            <a:extLst>
              <a:ext uri="{FF2B5EF4-FFF2-40B4-BE49-F238E27FC236}">
                <a16:creationId xmlns:a16="http://schemas.microsoft.com/office/drawing/2014/main" id="{17EF0C93-E3D8-8A92-DA49-9E93898C92CA}"/>
              </a:ext>
            </a:extLst>
          </p:cNvPr>
          <p:cNvSpPr/>
          <p:nvPr/>
        </p:nvSpPr>
        <p:spPr>
          <a:xfrm>
            <a:off x="8891193" y="4690387"/>
            <a:ext cx="1061733" cy="488522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cxnSp>
        <p:nvCxnSpPr>
          <p:cNvPr id="1030" name="Straight Connector 1029">
            <a:extLst>
              <a:ext uri="{FF2B5EF4-FFF2-40B4-BE49-F238E27FC236}">
                <a16:creationId xmlns:a16="http://schemas.microsoft.com/office/drawing/2014/main" id="{36F40374-111F-D35C-2F07-A7581CAC9F15}"/>
              </a:ext>
            </a:extLst>
          </p:cNvPr>
          <p:cNvCxnSpPr>
            <a:cxnSpLocks/>
            <a:stCxn id="1038" idx="2"/>
            <a:endCxn id="1050" idx="1"/>
          </p:cNvCxnSpPr>
          <p:nvPr/>
        </p:nvCxnSpPr>
        <p:spPr>
          <a:xfrm>
            <a:off x="5187748" y="1259717"/>
            <a:ext cx="1481456" cy="1330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Connector 1051">
            <a:extLst>
              <a:ext uri="{FF2B5EF4-FFF2-40B4-BE49-F238E27FC236}">
                <a16:creationId xmlns:a16="http://schemas.microsoft.com/office/drawing/2014/main" id="{33E7747B-6B7D-DBB3-811D-A196374DD3E6}"/>
              </a:ext>
            </a:extLst>
          </p:cNvPr>
          <p:cNvCxnSpPr>
            <a:cxnSpLocks/>
            <a:stCxn id="1038" idx="2"/>
            <a:endCxn id="30" idx="1"/>
          </p:cNvCxnSpPr>
          <p:nvPr/>
        </p:nvCxnSpPr>
        <p:spPr>
          <a:xfrm>
            <a:off x="5187748" y="1259717"/>
            <a:ext cx="1505501" cy="4138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BA5DE70B-8727-3035-DB5A-ABCFD284CC42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>
          <a:xfrm flipH="1" flipV="1">
            <a:off x="8359042" y="2142055"/>
            <a:ext cx="1027119" cy="262713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D4461A93-ACB5-4293-9610-D9259269432B}"/>
              </a:ext>
            </a:extLst>
          </p:cNvPr>
          <p:cNvSpPr txBox="1"/>
          <p:nvPr/>
        </p:nvSpPr>
        <p:spPr>
          <a:xfrm>
            <a:off x="2856077" y="3146464"/>
            <a:ext cx="2477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i="1" u="sng" dirty="0">
                <a:solidFill>
                  <a:schemeClr val="bg2"/>
                </a:solidFill>
              </a:rPr>
              <a:t>Localhost only</a:t>
            </a:r>
          </a:p>
          <a:p>
            <a:r>
              <a:rPr lang="en-US" sz="1200" b="1" i="1" u="sng" dirty="0">
                <a:solidFill>
                  <a:schemeClr val="bg2"/>
                </a:solidFill>
              </a:rPr>
              <a:t>No security enclaves</a:t>
            </a:r>
          </a:p>
          <a:p>
            <a:r>
              <a:rPr lang="en-US" sz="1200" b="1" i="1" u="sng" dirty="0">
                <a:solidFill>
                  <a:schemeClr val="bg2"/>
                </a:solidFill>
              </a:rPr>
              <a:t>Only specific topics are exposed</a:t>
            </a:r>
          </a:p>
        </p:txBody>
      </p:sp>
      <p:sp>
        <p:nvSpPr>
          <p:cNvPr id="1074" name="Arrow: Right 1073">
            <a:extLst>
              <a:ext uri="{FF2B5EF4-FFF2-40B4-BE49-F238E27FC236}">
                <a16:creationId xmlns:a16="http://schemas.microsoft.com/office/drawing/2014/main" id="{27669AD7-BBEA-C576-ACE6-F75B519396BF}"/>
              </a:ext>
            </a:extLst>
          </p:cNvPr>
          <p:cNvSpPr/>
          <p:nvPr/>
        </p:nvSpPr>
        <p:spPr>
          <a:xfrm rot="11844589">
            <a:off x="5551768" y="4541573"/>
            <a:ext cx="1693321" cy="420231"/>
          </a:xfrm>
          <a:prstGeom prst="rightArrow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C0A92CC9-9E2E-F9E1-1461-2D855FDDD5F3}"/>
              </a:ext>
            </a:extLst>
          </p:cNvPr>
          <p:cNvSpPr txBox="1"/>
          <p:nvPr/>
        </p:nvSpPr>
        <p:spPr>
          <a:xfrm>
            <a:off x="5352844" y="4975709"/>
            <a:ext cx="1971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rgbClr val="FF0000"/>
                </a:solidFill>
              </a:rPr>
              <a:t>No Discovery at all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4373D6-51C6-5298-62D5-E41A211841C8}"/>
              </a:ext>
            </a:extLst>
          </p:cNvPr>
          <p:cNvSpPr/>
          <p:nvPr/>
        </p:nvSpPr>
        <p:spPr>
          <a:xfrm>
            <a:off x="6912026" y="1897794"/>
            <a:ext cx="1447016" cy="488522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DDS </a:t>
            </a:r>
            <a:r>
              <a:rPr lang="en-US" sz="1400" dirty="0">
                <a:solidFill>
                  <a:schemeClr val="tx1"/>
                </a:solidFill>
              </a:rPr>
              <a:t>Router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(Client)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5E861-CC89-D35E-4D47-CD91F1196DE0}"/>
              </a:ext>
            </a:extLst>
          </p:cNvPr>
          <p:cNvSpPr/>
          <p:nvPr/>
        </p:nvSpPr>
        <p:spPr>
          <a:xfrm>
            <a:off x="9386161" y="2283700"/>
            <a:ext cx="1643851" cy="242135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Node </a:t>
            </a:r>
            <a:r>
              <a:rPr lang="en-US" sz="1400" dirty="0">
                <a:solidFill>
                  <a:schemeClr val="tx1"/>
                </a:solidFill>
              </a:rPr>
              <a:t>(Pub/Sub)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DEA501-41EF-C600-2665-DBBA7ABD1CFD}"/>
              </a:ext>
            </a:extLst>
          </p:cNvPr>
          <p:cNvSpPr/>
          <p:nvPr/>
        </p:nvSpPr>
        <p:spPr>
          <a:xfrm>
            <a:off x="7533645" y="1460933"/>
            <a:ext cx="3760479" cy="118217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9CEA4-C53B-3971-21C2-AAC8FA5148F8}"/>
              </a:ext>
            </a:extLst>
          </p:cNvPr>
          <p:cNvSpPr txBox="1"/>
          <p:nvPr/>
        </p:nvSpPr>
        <p:spPr>
          <a:xfrm>
            <a:off x="7515109" y="1429927"/>
            <a:ext cx="2750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chemeClr val="accent5"/>
                </a:solidFill>
              </a:rPr>
              <a:t>Localhost Discovery Range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B51106-1BAD-275D-FA0B-D35D0C3033AE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flipH="1" flipV="1">
            <a:off x="2892024" y="3492733"/>
            <a:ext cx="990559" cy="556896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A256D42-BF1A-D237-219A-979298AE7E71}"/>
              </a:ext>
            </a:extLst>
          </p:cNvPr>
          <p:cNvCxnSpPr>
            <a:cxnSpLocks/>
            <a:stCxn id="8" idx="1"/>
            <a:endCxn id="1037" idx="3"/>
          </p:cNvCxnSpPr>
          <p:nvPr/>
        </p:nvCxnSpPr>
        <p:spPr>
          <a:xfrm flipH="1">
            <a:off x="2856077" y="4049629"/>
            <a:ext cx="1026506" cy="268071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73348A9F-B2F7-E176-8A6B-3F70E8AD57CC}"/>
              </a:ext>
            </a:extLst>
          </p:cNvPr>
          <p:cNvCxnSpPr>
            <a:cxnSpLocks/>
            <a:stCxn id="8" idx="1"/>
            <a:endCxn id="7" idx="0"/>
          </p:cNvCxnSpPr>
          <p:nvPr/>
        </p:nvCxnSpPr>
        <p:spPr>
          <a:xfrm flipH="1">
            <a:off x="3550663" y="4049629"/>
            <a:ext cx="331920" cy="352902"/>
          </a:xfrm>
          <a:prstGeom prst="straightConnector1">
            <a:avLst/>
          </a:prstGeom>
          <a:ln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D2D08333-5422-D6D6-7832-3BDF558671BB}"/>
              </a:ext>
            </a:extLst>
          </p:cNvPr>
          <p:cNvCxnSpPr>
            <a:cxnSpLocks/>
            <a:stCxn id="2" idx="1"/>
            <a:endCxn id="8" idx="3"/>
          </p:cNvCxnSpPr>
          <p:nvPr/>
        </p:nvCxnSpPr>
        <p:spPr>
          <a:xfrm flipH="1">
            <a:off x="5388084" y="2142055"/>
            <a:ext cx="1523942" cy="1907574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46" name="TextBox 1045">
            <a:extLst>
              <a:ext uri="{FF2B5EF4-FFF2-40B4-BE49-F238E27FC236}">
                <a16:creationId xmlns:a16="http://schemas.microsoft.com/office/drawing/2014/main" id="{AD101A1C-2864-8272-FEDA-3718B3520FD2}"/>
              </a:ext>
            </a:extLst>
          </p:cNvPr>
          <p:cNvSpPr txBox="1"/>
          <p:nvPr/>
        </p:nvSpPr>
        <p:spPr>
          <a:xfrm>
            <a:off x="5189018" y="3147251"/>
            <a:ext cx="13995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u="sng" dirty="0">
                <a:solidFill>
                  <a:srgbClr val="FF0000"/>
                </a:solidFill>
              </a:rPr>
              <a:t>TCP over TLS</a:t>
            </a:r>
          </a:p>
        </p:txBody>
      </p:sp>
    </p:spTree>
    <p:extLst>
      <p:ext uri="{BB962C8B-B14F-4D97-AF65-F5344CB8AC3E}">
        <p14:creationId xmlns:p14="http://schemas.microsoft.com/office/powerpoint/2010/main" val="172206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6" descr="propeller, quadcopter, drone vector icon illustration 23196830 Vector Art  at Vecteezy">
            <a:extLst>
              <a:ext uri="{FF2B5EF4-FFF2-40B4-BE49-F238E27FC236}">
                <a16:creationId xmlns:a16="http://schemas.microsoft.com/office/drawing/2014/main" id="{58825512-2584-9F3A-A3AF-621CC4D89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271" y="6156730"/>
            <a:ext cx="764704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1D487F-92B4-FF44-9BBB-D656324D38EA}"/>
              </a:ext>
            </a:extLst>
          </p:cNvPr>
          <p:cNvSpPr/>
          <p:nvPr/>
        </p:nvSpPr>
        <p:spPr>
          <a:xfrm>
            <a:off x="757884" y="3466383"/>
            <a:ext cx="2999327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7D1A0A-DA58-2E09-6050-A0025FFEC98A}"/>
              </a:ext>
            </a:extLst>
          </p:cNvPr>
          <p:cNvSpPr txBox="1"/>
          <p:nvPr/>
        </p:nvSpPr>
        <p:spPr>
          <a:xfrm>
            <a:off x="724863" y="3455891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Edge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9084AE-1B93-F58A-E50E-FE4B944D3319}"/>
              </a:ext>
            </a:extLst>
          </p:cNvPr>
          <p:cNvSpPr/>
          <p:nvPr/>
        </p:nvSpPr>
        <p:spPr>
          <a:xfrm>
            <a:off x="1045916" y="4546502"/>
            <a:ext cx="2460857" cy="103873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edgecore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D8A51E-5D78-C37D-7A7E-C6BB4DE6FCAF}"/>
              </a:ext>
            </a:extLst>
          </p:cNvPr>
          <p:cNvSpPr/>
          <p:nvPr/>
        </p:nvSpPr>
        <p:spPr>
          <a:xfrm>
            <a:off x="1045916" y="3826422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78889B-DD3D-ED52-DBF1-5DB18C45E71A}"/>
              </a:ext>
            </a:extLst>
          </p:cNvPr>
          <p:cNvSpPr/>
          <p:nvPr/>
        </p:nvSpPr>
        <p:spPr>
          <a:xfrm>
            <a:off x="1207092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Meta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BA2F78-10CF-109A-0A56-7A2306C42EDC}"/>
              </a:ext>
            </a:extLst>
          </p:cNvPr>
          <p:cNvSpPr/>
          <p:nvPr/>
        </p:nvSpPr>
        <p:spPr>
          <a:xfrm>
            <a:off x="2526748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edged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2B8CB6-D7B4-9595-D8B0-6462C12AEF5F}"/>
              </a:ext>
            </a:extLst>
          </p:cNvPr>
          <p:cNvSpPr/>
          <p:nvPr/>
        </p:nvSpPr>
        <p:spPr>
          <a:xfrm>
            <a:off x="1060292" y="5659093"/>
            <a:ext cx="2443232" cy="25556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Host System (Linux)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1026" name="Picture 2" descr="812 Actuator Icon Stock Vectors and Vector Art | Shutterstock">
            <a:extLst>
              <a:ext uri="{FF2B5EF4-FFF2-40B4-BE49-F238E27FC236}">
                <a16:creationId xmlns:a16="http://schemas.microsoft.com/office/drawing/2014/main" id="{38E9550F-359B-10F8-896F-339573AF5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066" y="6181209"/>
            <a:ext cx="696466" cy="6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tailed car wheel outline illustration for automotive design | Premium  Vector">
            <a:extLst>
              <a:ext uri="{FF2B5EF4-FFF2-40B4-BE49-F238E27FC236}">
                <a16:creationId xmlns:a16="http://schemas.microsoft.com/office/drawing/2014/main" id="{DC545651-3DF8-FC92-D590-79958C9A9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702" y="6376623"/>
            <a:ext cx="451284" cy="45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peller, quadcopter, drone vector icon illustration 23196830 Vector Art  at Vecteezy">
            <a:extLst>
              <a:ext uri="{FF2B5EF4-FFF2-40B4-BE49-F238E27FC236}">
                <a16:creationId xmlns:a16="http://schemas.microsoft.com/office/drawing/2014/main" id="{9E7C31F4-9C13-3EB0-AFA2-EA596EB39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042" y="6181209"/>
            <a:ext cx="764704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102A13-48D3-558B-6FE1-BF9284DF7B3E}"/>
              </a:ext>
            </a:extLst>
          </p:cNvPr>
          <p:cNvCxnSpPr>
            <a:cxnSpLocks/>
          </p:cNvCxnSpPr>
          <p:nvPr/>
        </p:nvCxnSpPr>
        <p:spPr>
          <a:xfrm>
            <a:off x="1550299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2C1AB3B-8F67-7EC0-C699-9E923096F5BF}"/>
              </a:ext>
            </a:extLst>
          </p:cNvPr>
          <p:cNvCxnSpPr>
            <a:cxnSpLocks/>
          </p:cNvCxnSpPr>
          <p:nvPr/>
        </p:nvCxnSpPr>
        <p:spPr>
          <a:xfrm>
            <a:off x="2285156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C34A16A-A1F8-EFC9-FC87-BE960DFEE772}"/>
              </a:ext>
            </a:extLst>
          </p:cNvPr>
          <p:cNvCxnSpPr>
            <a:cxnSpLocks/>
          </p:cNvCxnSpPr>
          <p:nvPr/>
        </p:nvCxnSpPr>
        <p:spPr>
          <a:xfrm>
            <a:off x="3105088" y="591274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Humanoid robot vector outline illustration | Premium AI-generated vector">
            <a:extLst>
              <a:ext uri="{FF2B5EF4-FFF2-40B4-BE49-F238E27FC236}">
                <a16:creationId xmlns:a16="http://schemas.microsoft.com/office/drawing/2014/main" id="{5B84866E-F707-82D6-D8DA-7D95305A2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269" y="2642566"/>
            <a:ext cx="1005697" cy="100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78AC416-8922-F0E5-FB72-D72CBE00B9F1}"/>
              </a:ext>
            </a:extLst>
          </p:cNvPr>
          <p:cNvSpPr/>
          <p:nvPr/>
        </p:nvSpPr>
        <p:spPr>
          <a:xfrm>
            <a:off x="4602721" y="3466383"/>
            <a:ext cx="2999327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C82530-60EC-C406-AEBD-13E40EA3E43B}"/>
              </a:ext>
            </a:extLst>
          </p:cNvPr>
          <p:cNvSpPr txBox="1"/>
          <p:nvPr/>
        </p:nvSpPr>
        <p:spPr>
          <a:xfrm>
            <a:off x="4569700" y="3455891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Edge Node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A0676F-F4A9-1BF1-DD5A-E8443A59B07B}"/>
              </a:ext>
            </a:extLst>
          </p:cNvPr>
          <p:cNvSpPr/>
          <p:nvPr/>
        </p:nvSpPr>
        <p:spPr>
          <a:xfrm>
            <a:off x="4890753" y="4546502"/>
            <a:ext cx="2460857" cy="103873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edgecore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B7B5D9-AF87-6DF1-6C47-4CB18280D34A}"/>
              </a:ext>
            </a:extLst>
          </p:cNvPr>
          <p:cNvSpPr/>
          <p:nvPr/>
        </p:nvSpPr>
        <p:spPr>
          <a:xfrm>
            <a:off x="4890753" y="3826422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F66929-C212-2473-6730-6091173849BC}"/>
              </a:ext>
            </a:extLst>
          </p:cNvPr>
          <p:cNvSpPr/>
          <p:nvPr/>
        </p:nvSpPr>
        <p:spPr>
          <a:xfrm>
            <a:off x="5051929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Meta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9B4F17-B531-861D-F427-92AE92D32C05}"/>
              </a:ext>
            </a:extLst>
          </p:cNvPr>
          <p:cNvSpPr/>
          <p:nvPr/>
        </p:nvSpPr>
        <p:spPr>
          <a:xfrm>
            <a:off x="6371585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edged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6E61F6-C6A8-CEC7-6980-6BCF9612688C}"/>
              </a:ext>
            </a:extLst>
          </p:cNvPr>
          <p:cNvSpPr/>
          <p:nvPr/>
        </p:nvSpPr>
        <p:spPr>
          <a:xfrm>
            <a:off x="4905129" y="5659093"/>
            <a:ext cx="2443232" cy="25556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Host System (Linux)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31" name="Picture 2" descr="812 Actuator Icon Stock Vectors and Vector Art | Shutterstock">
            <a:extLst>
              <a:ext uri="{FF2B5EF4-FFF2-40B4-BE49-F238E27FC236}">
                <a16:creationId xmlns:a16="http://schemas.microsoft.com/office/drawing/2014/main" id="{80E5B301-B507-FDF5-B001-6C3A2EEEE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903" y="6181209"/>
            <a:ext cx="696466" cy="6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Detailed car wheel outline illustration for automotive design | Premium  Vector">
            <a:extLst>
              <a:ext uri="{FF2B5EF4-FFF2-40B4-BE49-F238E27FC236}">
                <a16:creationId xmlns:a16="http://schemas.microsoft.com/office/drawing/2014/main" id="{F4471ABC-1F74-1DC6-6D76-DFD801EE1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539" y="6376623"/>
            <a:ext cx="451284" cy="45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propeller, quadcopter, drone vector icon illustration 23196830 Vector Art  at Vecteezy">
            <a:extLst>
              <a:ext uri="{FF2B5EF4-FFF2-40B4-BE49-F238E27FC236}">
                <a16:creationId xmlns:a16="http://schemas.microsoft.com/office/drawing/2014/main" id="{D4ED0AA4-27F6-E7A6-37E0-13BB7CBA4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879" y="6181209"/>
            <a:ext cx="764704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3C4471-2E92-32CA-B33A-1E5AC99945D2}"/>
              </a:ext>
            </a:extLst>
          </p:cNvPr>
          <p:cNvCxnSpPr>
            <a:cxnSpLocks/>
          </p:cNvCxnSpPr>
          <p:nvPr/>
        </p:nvCxnSpPr>
        <p:spPr>
          <a:xfrm>
            <a:off x="5395136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E6B991E-FFAB-9FAE-0041-5F5DD832E1DE}"/>
              </a:ext>
            </a:extLst>
          </p:cNvPr>
          <p:cNvCxnSpPr>
            <a:cxnSpLocks/>
          </p:cNvCxnSpPr>
          <p:nvPr/>
        </p:nvCxnSpPr>
        <p:spPr>
          <a:xfrm>
            <a:off x="6129993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8EA8352-F06F-8F46-788F-07B69535F1EC}"/>
              </a:ext>
            </a:extLst>
          </p:cNvPr>
          <p:cNvCxnSpPr>
            <a:cxnSpLocks/>
          </p:cNvCxnSpPr>
          <p:nvPr/>
        </p:nvCxnSpPr>
        <p:spPr>
          <a:xfrm>
            <a:off x="6949925" y="591274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Picture 14" descr="6,500+ Ev Charger Illustrations Stock Illustrations, Royalty-Free Vector  Graphics &amp; Clip Art - iStock">
            <a:extLst>
              <a:ext uri="{FF2B5EF4-FFF2-40B4-BE49-F238E27FC236}">
                <a16:creationId xmlns:a16="http://schemas.microsoft.com/office/drawing/2014/main" id="{65F11739-2822-390F-F578-C9AB2EA62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916" y="2884652"/>
            <a:ext cx="1363083" cy="88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648EDA0-66D6-05F3-12FE-2BAB32EC9A09}"/>
              </a:ext>
            </a:extLst>
          </p:cNvPr>
          <p:cNvSpPr/>
          <p:nvPr/>
        </p:nvSpPr>
        <p:spPr>
          <a:xfrm>
            <a:off x="8474655" y="3441904"/>
            <a:ext cx="2999327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7ECC55-8C93-0CF7-65FB-487D522E30E6}"/>
              </a:ext>
            </a:extLst>
          </p:cNvPr>
          <p:cNvSpPr txBox="1"/>
          <p:nvPr/>
        </p:nvSpPr>
        <p:spPr>
          <a:xfrm>
            <a:off x="8441634" y="3431412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Edge Node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BFB741-C45F-15A8-92E9-2A8519FCF615}"/>
              </a:ext>
            </a:extLst>
          </p:cNvPr>
          <p:cNvSpPr/>
          <p:nvPr/>
        </p:nvSpPr>
        <p:spPr>
          <a:xfrm>
            <a:off x="8762687" y="4522023"/>
            <a:ext cx="2460857" cy="103873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edgecore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07702FC-56C1-EC2A-4F67-20C235431AD3}"/>
              </a:ext>
            </a:extLst>
          </p:cNvPr>
          <p:cNvSpPr/>
          <p:nvPr/>
        </p:nvSpPr>
        <p:spPr>
          <a:xfrm>
            <a:off x="8762687" y="3801943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CC9478-776F-4F45-9B90-AE86AA3C02BE}"/>
              </a:ext>
            </a:extLst>
          </p:cNvPr>
          <p:cNvSpPr/>
          <p:nvPr/>
        </p:nvSpPr>
        <p:spPr>
          <a:xfrm>
            <a:off x="8923863" y="4738047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Meta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E816B62-EAE6-0A16-79E7-CB6E8E0FD0CC}"/>
              </a:ext>
            </a:extLst>
          </p:cNvPr>
          <p:cNvSpPr/>
          <p:nvPr/>
        </p:nvSpPr>
        <p:spPr>
          <a:xfrm>
            <a:off x="10243519" y="4738047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edged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822D1BF-0200-1A21-3AA0-4294659BCB4B}"/>
              </a:ext>
            </a:extLst>
          </p:cNvPr>
          <p:cNvSpPr/>
          <p:nvPr/>
        </p:nvSpPr>
        <p:spPr>
          <a:xfrm>
            <a:off x="8777063" y="5634614"/>
            <a:ext cx="2443232" cy="25556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Host System (Linux)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46" name="Picture 2" descr="812 Actuator Icon Stock Vectors and Vector Art | Shutterstock">
            <a:extLst>
              <a:ext uri="{FF2B5EF4-FFF2-40B4-BE49-F238E27FC236}">
                <a16:creationId xmlns:a16="http://schemas.microsoft.com/office/drawing/2014/main" id="{DE7AADBD-A18B-8004-56E0-C911B204A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837" y="6156730"/>
            <a:ext cx="696466" cy="6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 descr="Detailed car wheel outline illustration for automotive design | Premium  Vector">
            <a:extLst>
              <a:ext uri="{FF2B5EF4-FFF2-40B4-BE49-F238E27FC236}">
                <a16:creationId xmlns:a16="http://schemas.microsoft.com/office/drawing/2014/main" id="{AFF79172-0A3F-C752-DFCD-8F0C1BFD7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473" y="6352144"/>
            <a:ext cx="451284" cy="45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307FA6C-8048-0AFC-931F-D4ABF7C51136}"/>
              </a:ext>
            </a:extLst>
          </p:cNvPr>
          <p:cNvCxnSpPr>
            <a:cxnSpLocks/>
          </p:cNvCxnSpPr>
          <p:nvPr/>
        </p:nvCxnSpPr>
        <p:spPr>
          <a:xfrm>
            <a:off x="9267070" y="5890176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3CB1C9-88F4-ED0C-92F8-C91EFEADC335}"/>
              </a:ext>
            </a:extLst>
          </p:cNvPr>
          <p:cNvCxnSpPr>
            <a:cxnSpLocks/>
          </p:cNvCxnSpPr>
          <p:nvPr/>
        </p:nvCxnSpPr>
        <p:spPr>
          <a:xfrm>
            <a:off x="10001927" y="5890176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7426B8E-20BC-A87B-60E4-D0F595D30783}"/>
              </a:ext>
            </a:extLst>
          </p:cNvPr>
          <p:cNvCxnSpPr>
            <a:cxnSpLocks/>
          </p:cNvCxnSpPr>
          <p:nvPr/>
        </p:nvCxnSpPr>
        <p:spPr>
          <a:xfrm>
            <a:off x="10821859" y="5888269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144+ Thousand Drone Illustration Royalty-Free Images, Stock Photos &amp;  Pictures | Shutterstock">
            <a:extLst>
              <a:ext uri="{FF2B5EF4-FFF2-40B4-BE49-F238E27FC236}">
                <a16:creationId xmlns:a16="http://schemas.microsoft.com/office/drawing/2014/main" id="{2CD15B64-5521-FEF1-79D5-F20F0541E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2623" y="2791301"/>
            <a:ext cx="906351" cy="90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E7FA78-3A68-DAEB-4142-D51BE69E70F0}"/>
              </a:ext>
            </a:extLst>
          </p:cNvPr>
          <p:cNvCxnSpPr>
            <a:cxnSpLocks/>
          </p:cNvCxnSpPr>
          <p:nvPr/>
        </p:nvCxnSpPr>
        <p:spPr>
          <a:xfrm>
            <a:off x="459139" y="2530279"/>
            <a:ext cx="11115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CE609F6-620C-FFDB-ED35-F6DA3324745C}"/>
              </a:ext>
            </a:extLst>
          </p:cNvPr>
          <p:cNvSpPr txBox="1"/>
          <p:nvPr/>
        </p:nvSpPr>
        <p:spPr>
          <a:xfrm>
            <a:off x="207941" y="2222502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Cloud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75177F-B8D1-12D9-B6E3-CB8AEF901E0A}"/>
              </a:ext>
            </a:extLst>
          </p:cNvPr>
          <p:cNvSpPr txBox="1"/>
          <p:nvPr/>
        </p:nvSpPr>
        <p:spPr>
          <a:xfrm>
            <a:off x="197694" y="2519880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Edge (thousands of devices)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DD3D5B9-5E9D-7A99-DBFA-C69D01377DD0}"/>
              </a:ext>
            </a:extLst>
          </p:cNvPr>
          <p:cNvSpPr/>
          <p:nvPr/>
        </p:nvSpPr>
        <p:spPr>
          <a:xfrm>
            <a:off x="4890753" y="1810199"/>
            <a:ext cx="2460857" cy="61865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CloudCore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42" name="Picture 18" descr="User Icon Vector Art, Icons, and Graphics for Free Download">
            <a:extLst>
              <a:ext uri="{FF2B5EF4-FFF2-40B4-BE49-F238E27FC236}">
                <a16:creationId xmlns:a16="http://schemas.microsoft.com/office/drawing/2014/main" id="{AAF87B62-32C9-5715-583C-A604B5536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07" y="546242"/>
            <a:ext cx="975925" cy="97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7E3C50A-8701-F56E-81A1-4F2DEB9CC965}"/>
              </a:ext>
            </a:extLst>
          </p:cNvPr>
          <p:cNvCxnSpPr>
            <a:cxnSpLocks/>
            <a:stCxn id="57" idx="1"/>
            <a:endCxn id="4" idx="3"/>
          </p:cNvCxnSpPr>
          <p:nvPr/>
        </p:nvCxnSpPr>
        <p:spPr>
          <a:xfrm rot="10800000" flipV="1">
            <a:off x="3506773" y="2119524"/>
            <a:ext cx="1383980" cy="29463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0C6D0538-2EBD-C74D-0B04-B6218154E7E9}"/>
              </a:ext>
            </a:extLst>
          </p:cNvPr>
          <p:cNvCxnSpPr>
            <a:cxnSpLocks/>
            <a:stCxn id="57" idx="2"/>
            <a:endCxn id="25" idx="0"/>
          </p:cNvCxnSpPr>
          <p:nvPr/>
        </p:nvCxnSpPr>
        <p:spPr>
          <a:xfrm>
            <a:off x="6121182" y="2428851"/>
            <a:ext cx="0" cy="2117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33" name="Connector: Elbow 1032">
            <a:extLst>
              <a:ext uri="{FF2B5EF4-FFF2-40B4-BE49-F238E27FC236}">
                <a16:creationId xmlns:a16="http://schemas.microsoft.com/office/drawing/2014/main" id="{CFE42D8D-E8A2-0099-2608-53273BE759EA}"/>
              </a:ext>
            </a:extLst>
          </p:cNvPr>
          <p:cNvCxnSpPr>
            <a:cxnSpLocks/>
            <a:stCxn id="57" idx="3"/>
            <a:endCxn id="40" idx="1"/>
          </p:cNvCxnSpPr>
          <p:nvPr/>
        </p:nvCxnSpPr>
        <p:spPr>
          <a:xfrm>
            <a:off x="7351610" y="2119525"/>
            <a:ext cx="1411077" cy="29218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AE9B1A8-3862-78BC-66D0-D96A650DF8DA}"/>
              </a:ext>
            </a:extLst>
          </p:cNvPr>
          <p:cNvSpPr/>
          <p:nvPr/>
        </p:nvSpPr>
        <p:spPr>
          <a:xfrm>
            <a:off x="3569485" y="724878"/>
            <a:ext cx="2460857" cy="618652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Kubernetes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API - Server</a:t>
            </a:r>
          </a:p>
        </p:txBody>
      </p:sp>
      <p:cxnSp>
        <p:nvCxnSpPr>
          <p:cNvPr id="1039" name="Connector: Elbow 1038">
            <a:extLst>
              <a:ext uri="{FF2B5EF4-FFF2-40B4-BE49-F238E27FC236}">
                <a16:creationId xmlns:a16="http://schemas.microsoft.com/office/drawing/2014/main" id="{91986698-34BA-67A2-E106-AD902E5CBB0E}"/>
              </a:ext>
            </a:extLst>
          </p:cNvPr>
          <p:cNvCxnSpPr>
            <a:cxnSpLocks/>
            <a:stCxn id="1037" idx="2"/>
            <a:endCxn id="57" idx="0"/>
          </p:cNvCxnSpPr>
          <p:nvPr/>
        </p:nvCxnSpPr>
        <p:spPr>
          <a:xfrm rot="16200000" flipH="1">
            <a:off x="5227214" y="916230"/>
            <a:ext cx="466669" cy="13212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F90F5F63-D6BB-7A9E-B573-FB0AB9C0C086}"/>
              </a:ext>
            </a:extLst>
          </p:cNvPr>
          <p:cNvGrpSpPr/>
          <p:nvPr/>
        </p:nvGrpSpPr>
        <p:grpSpPr>
          <a:xfrm>
            <a:off x="8082965" y="477466"/>
            <a:ext cx="3034793" cy="1307581"/>
            <a:chOff x="7408268" y="217765"/>
            <a:chExt cx="3034793" cy="1307581"/>
          </a:xfrm>
        </p:grpSpPr>
        <p:sp>
          <p:nvSpPr>
            <p:cNvPr id="1057" name="Rectangle 1056">
              <a:extLst>
                <a:ext uri="{FF2B5EF4-FFF2-40B4-BE49-F238E27FC236}">
                  <a16:creationId xmlns:a16="http://schemas.microsoft.com/office/drawing/2014/main" id="{5FE573CE-57F6-FA9C-2407-E6F13FA677A8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787B52DB-27DE-D2B4-0B18-BB508B8A1121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0CB28E10-75DF-FCC7-1E0C-AE06C31030CE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E1876305-3125-77A5-1F48-4FE88C11FF2D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0C10874B-6416-4CDB-6DC2-76BC2F6B87B2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F1E33DBA-3EA2-68A4-4CD2-B817F5B348DD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7B0FCF31-1135-0499-A613-71C7956FE5C3}"/>
              </a:ext>
            </a:extLst>
          </p:cNvPr>
          <p:cNvGrpSpPr/>
          <p:nvPr/>
        </p:nvGrpSpPr>
        <p:grpSpPr>
          <a:xfrm>
            <a:off x="8235365" y="629866"/>
            <a:ext cx="3034793" cy="1307581"/>
            <a:chOff x="7408268" y="217765"/>
            <a:chExt cx="3034793" cy="1307581"/>
          </a:xfrm>
        </p:grpSpPr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2FAD844A-E5D5-57A0-75F3-075BC4308427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A35C6DD0-72E2-1CC2-05E5-8A8C33AA9725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13A5DE58-6391-4A1C-A52C-4DEA17802EF8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6F5E9E93-FD99-A36E-99C7-80E12C529C7C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C95844C3-8B27-DD7E-2B76-2AA0DF0B773A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74" name="Rectangle 1073">
              <a:extLst>
                <a:ext uri="{FF2B5EF4-FFF2-40B4-BE49-F238E27FC236}">
                  <a16:creationId xmlns:a16="http://schemas.microsoft.com/office/drawing/2014/main" id="{24CDF9A7-1FC5-605D-CDAD-B05C0429B012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5FD0A83F-B6FE-1785-9D76-39DEABC26E66}"/>
              </a:ext>
            </a:extLst>
          </p:cNvPr>
          <p:cNvGrpSpPr/>
          <p:nvPr/>
        </p:nvGrpSpPr>
        <p:grpSpPr>
          <a:xfrm>
            <a:off x="8387765" y="782266"/>
            <a:ext cx="3034793" cy="1307581"/>
            <a:chOff x="7408268" y="217765"/>
            <a:chExt cx="3034793" cy="1307581"/>
          </a:xfrm>
        </p:grpSpPr>
        <p:sp>
          <p:nvSpPr>
            <p:cNvPr id="1076" name="Rectangle 1075">
              <a:extLst>
                <a:ext uri="{FF2B5EF4-FFF2-40B4-BE49-F238E27FC236}">
                  <a16:creationId xmlns:a16="http://schemas.microsoft.com/office/drawing/2014/main" id="{9DB5F653-8865-0E57-7A58-29E9F73FF7CF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8EBE7EA3-9427-BC17-D9AD-2FE37D13AA29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64A66F09-4DD8-4A40-A5FB-0D56D3EE07BE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E3A07EEA-0FC2-DF54-9731-020586DD2032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93EC6F1B-90C2-04C8-219D-4DE047C23F4E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850385DB-6C1B-4290-A934-B112FDA7E235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9D8E5A4C-90A0-E119-4F61-C6F4C65993B8}"/>
              </a:ext>
            </a:extLst>
          </p:cNvPr>
          <p:cNvGrpSpPr/>
          <p:nvPr/>
        </p:nvGrpSpPr>
        <p:grpSpPr>
          <a:xfrm>
            <a:off x="8540165" y="934666"/>
            <a:ext cx="3034793" cy="1307581"/>
            <a:chOff x="7408268" y="217765"/>
            <a:chExt cx="3034793" cy="1307581"/>
          </a:xfrm>
        </p:grpSpPr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94EC8785-185E-BAFF-CB90-681DBDD706B9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43BBDBEB-9406-6BEB-9A71-26603CF9B2A7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85" name="Rectangle 1084">
              <a:extLst>
                <a:ext uri="{FF2B5EF4-FFF2-40B4-BE49-F238E27FC236}">
                  <a16:creationId xmlns:a16="http://schemas.microsoft.com/office/drawing/2014/main" id="{2E8F9F95-95D1-E194-7989-9A05DCA47008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86" name="Rectangle 1085">
              <a:extLst>
                <a:ext uri="{FF2B5EF4-FFF2-40B4-BE49-F238E27FC236}">
                  <a16:creationId xmlns:a16="http://schemas.microsoft.com/office/drawing/2014/main" id="{EA14E073-0854-86CA-AE98-75F586D440BE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7E5AD9D2-48A3-173A-845C-F8B28E2C6FE8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8" name="Rectangle 1087">
              <a:extLst>
                <a:ext uri="{FF2B5EF4-FFF2-40B4-BE49-F238E27FC236}">
                  <a16:creationId xmlns:a16="http://schemas.microsoft.com/office/drawing/2014/main" id="{D6B2130A-2FD5-33E7-69D0-96F2E34C7DD0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91" name="Connector: Elbow 1090">
            <a:extLst>
              <a:ext uri="{FF2B5EF4-FFF2-40B4-BE49-F238E27FC236}">
                <a16:creationId xmlns:a16="http://schemas.microsoft.com/office/drawing/2014/main" id="{80B547F9-74B5-F6B8-8F8E-C3A7EBDE4652}"/>
              </a:ext>
            </a:extLst>
          </p:cNvPr>
          <p:cNvCxnSpPr>
            <a:cxnSpLocks/>
            <a:stCxn id="1042" idx="3"/>
            <a:endCxn id="1037" idx="1"/>
          </p:cNvCxnSpPr>
          <p:nvPr/>
        </p:nvCxnSpPr>
        <p:spPr>
          <a:xfrm flipV="1">
            <a:off x="1898532" y="1034204"/>
            <a:ext cx="167095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625CA50A-849C-7E2D-6D92-738C61F0328A}"/>
              </a:ext>
            </a:extLst>
          </p:cNvPr>
          <p:cNvCxnSpPr>
            <a:cxnSpLocks/>
            <a:stCxn id="1037" idx="3"/>
            <a:endCxn id="1085" idx="1"/>
          </p:cNvCxnSpPr>
          <p:nvPr/>
        </p:nvCxnSpPr>
        <p:spPr>
          <a:xfrm>
            <a:off x="6030342" y="1034204"/>
            <a:ext cx="2833322" cy="6727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96" name="TextBox 1095">
            <a:extLst>
              <a:ext uri="{FF2B5EF4-FFF2-40B4-BE49-F238E27FC236}">
                <a16:creationId xmlns:a16="http://schemas.microsoft.com/office/drawing/2014/main" id="{86EBA3F4-84BA-16A1-2A77-3F503E9E2301}"/>
              </a:ext>
            </a:extLst>
          </p:cNvPr>
          <p:cNvSpPr txBox="1"/>
          <p:nvPr/>
        </p:nvSpPr>
        <p:spPr>
          <a:xfrm>
            <a:off x="2097412" y="1078207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1. Upgrade</a:t>
            </a:r>
          </a:p>
          <a:p>
            <a:r>
              <a:rPr lang="en-US" sz="1400" b="1" i="1" u="sng" dirty="0">
                <a:solidFill>
                  <a:srgbClr val="FF0000"/>
                </a:solidFill>
              </a:rPr>
              <a:t>Deployment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E7AE24DE-2E52-9E98-3F88-E7CBA812BB95}"/>
              </a:ext>
            </a:extLst>
          </p:cNvPr>
          <p:cNvSpPr txBox="1"/>
          <p:nvPr/>
        </p:nvSpPr>
        <p:spPr>
          <a:xfrm>
            <a:off x="2914395" y="1845418"/>
            <a:ext cx="2531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2. Send request to </a:t>
            </a:r>
            <a:r>
              <a:rPr lang="en-US" sz="1400" b="1" i="1" u="sng" dirty="0" err="1">
                <a:solidFill>
                  <a:srgbClr val="FF0000"/>
                </a:solidFill>
              </a:rPr>
              <a:t>edgecore</a:t>
            </a:r>
            <a:endParaRPr lang="en-US" sz="1400" b="1" i="1" u="sng" dirty="0">
              <a:solidFill>
                <a:srgbClr val="FF0000"/>
              </a:solidFill>
            </a:endParaRP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D893230D-D2C9-BA16-8DF8-25034D236D90}"/>
              </a:ext>
            </a:extLst>
          </p:cNvPr>
          <p:cNvSpPr txBox="1"/>
          <p:nvPr/>
        </p:nvSpPr>
        <p:spPr>
          <a:xfrm>
            <a:off x="56756" y="1147"/>
            <a:ext cx="6511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u="sng" dirty="0">
                <a:solidFill>
                  <a:srgbClr val="FF0000"/>
                </a:solidFill>
              </a:rPr>
              <a:t>Before: without `edge.kubeedge.io/hold-upgrade: "true“`</a:t>
            </a:r>
          </a:p>
        </p:txBody>
      </p:sp>
      <p:pic>
        <p:nvPicPr>
          <p:cNvPr id="1099" name="Picture 22">
            <a:extLst>
              <a:ext uri="{FF2B5EF4-FFF2-40B4-BE49-F238E27FC236}">
                <a16:creationId xmlns:a16="http://schemas.microsoft.com/office/drawing/2014/main" id="{7D71465B-8B76-ECEE-2B52-018146E05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372" y="489487"/>
            <a:ext cx="767699" cy="74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0" name="Picture 24" descr="KubeEdge · GitHub">
            <a:extLst>
              <a:ext uri="{FF2B5EF4-FFF2-40B4-BE49-F238E27FC236}">
                <a16:creationId xmlns:a16="http://schemas.microsoft.com/office/drawing/2014/main" id="{4CA2BBBC-259E-4D8F-F307-2AF89B140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05" y="1314882"/>
            <a:ext cx="720452" cy="720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1" name="Picture 26" descr="ROS 2 · GitHub">
            <a:extLst>
              <a:ext uri="{FF2B5EF4-FFF2-40B4-BE49-F238E27FC236}">
                <a16:creationId xmlns:a16="http://schemas.microsoft.com/office/drawing/2014/main" id="{CA2DC2B0-07D1-C10B-52FB-108644BCA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85" y="4170777"/>
            <a:ext cx="327506" cy="32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26" descr="ROS 2 · GitHub">
            <a:extLst>
              <a:ext uri="{FF2B5EF4-FFF2-40B4-BE49-F238E27FC236}">
                <a16:creationId xmlns:a16="http://schemas.microsoft.com/office/drawing/2014/main" id="{5FDA828F-017C-D6F1-B331-3185275A4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873" y="4212423"/>
            <a:ext cx="327506" cy="32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3" name="Picture 26" descr="ROS 2 · GitHub">
            <a:extLst>
              <a:ext uri="{FF2B5EF4-FFF2-40B4-BE49-F238E27FC236}">
                <a16:creationId xmlns:a16="http://schemas.microsoft.com/office/drawing/2014/main" id="{011D8AC6-1BBC-A170-514F-40099D314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172" y="4170777"/>
            <a:ext cx="327506" cy="32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A4DB9A65-F290-628E-3FF5-FBFBCB9B9D53}"/>
              </a:ext>
            </a:extLst>
          </p:cNvPr>
          <p:cNvCxnSpPr>
            <a:cxnSpLocks/>
            <a:stCxn id="57" idx="1"/>
            <a:endCxn id="4" idx="3"/>
          </p:cNvCxnSpPr>
          <p:nvPr/>
        </p:nvCxnSpPr>
        <p:spPr>
          <a:xfrm rot="10800000" flipV="1">
            <a:off x="3506773" y="2119524"/>
            <a:ext cx="1383980" cy="29463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09" name="Straight Arrow Connector 1108">
            <a:extLst>
              <a:ext uri="{FF2B5EF4-FFF2-40B4-BE49-F238E27FC236}">
                <a16:creationId xmlns:a16="http://schemas.microsoft.com/office/drawing/2014/main" id="{19AC996C-5135-5CCE-E1ED-4D5FDF08905B}"/>
              </a:ext>
            </a:extLst>
          </p:cNvPr>
          <p:cNvCxnSpPr>
            <a:cxnSpLocks/>
            <a:stCxn id="57" idx="2"/>
            <a:endCxn id="25" idx="0"/>
          </p:cNvCxnSpPr>
          <p:nvPr/>
        </p:nvCxnSpPr>
        <p:spPr>
          <a:xfrm>
            <a:off x="6121182" y="2428851"/>
            <a:ext cx="0" cy="2117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3" name="Connector: Elbow 1112">
            <a:extLst>
              <a:ext uri="{FF2B5EF4-FFF2-40B4-BE49-F238E27FC236}">
                <a16:creationId xmlns:a16="http://schemas.microsoft.com/office/drawing/2014/main" id="{3366A5A8-29F7-0263-1DF4-F82FBBBB0C2C}"/>
              </a:ext>
            </a:extLst>
          </p:cNvPr>
          <p:cNvCxnSpPr>
            <a:cxnSpLocks/>
            <a:stCxn id="57" idx="3"/>
            <a:endCxn id="40" idx="1"/>
          </p:cNvCxnSpPr>
          <p:nvPr/>
        </p:nvCxnSpPr>
        <p:spPr>
          <a:xfrm>
            <a:off x="7351610" y="2119525"/>
            <a:ext cx="1411077" cy="29218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8" name="Straight Arrow Connector 1117">
            <a:extLst>
              <a:ext uri="{FF2B5EF4-FFF2-40B4-BE49-F238E27FC236}">
                <a16:creationId xmlns:a16="http://schemas.microsoft.com/office/drawing/2014/main" id="{B65E9567-E532-2C6C-260E-648CE22DCBBD}"/>
              </a:ext>
            </a:extLst>
          </p:cNvPr>
          <p:cNvCxnSpPr>
            <a:cxnSpLocks/>
            <a:stCxn id="10" idx="1"/>
            <a:endCxn id="6" idx="2"/>
          </p:cNvCxnSpPr>
          <p:nvPr/>
        </p:nvCxnSpPr>
        <p:spPr>
          <a:xfrm flipH="1" flipV="1">
            <a:off x="1588310" y="4391268"/>
            <a:ext cx="938438" cy="582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EC4F0D9-F528-D5A5-6F7D-36982A45A0EA}"/>
              </a:ext>
            </a:extLst>
          </p:cNvPr>
          <p:cNvSpPr txBox="1"/>
          <p:nvPr/>
        </p:nvSpPr>
        <p:spPr>
          <a:xfrm>
            <a:off x="-14974" y="4501486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3. Delete Deployment</a:t>
            </a:r>
          </a:p>
        </p:txBody>
      </p:sp>
      <p:cxnSp>
        <p:nvCxnSpPr>
          <p:cNvPr id="1122" name="Straight Arrow Connector 1121">
            <a:extLst>
              <a:ext uri="{FF2B5EF4-FFF2-40B4-BE49-F238E27FC236}">
                <a16:creationId xmlns:a16="http://schemas.microsoft.com/office/drawing/2014/main" id="{7A2D3840-AC4B-2F95-622F-38ABA66FC4CB}"/>
              </a:ext>
            </a:extLst>
          </p:cNvPr>
          <p:cNvCxnSpPr>
            <a:cxnSpLocks/>
            <a:stCxn id="29" idx="1"/>
            <a:endCxn id="26" idx="2"/>
          </p:cNvCxnSpPr>
          <p:nvPr/>
        </p:nvCxnSpPr>
        <p:spPr>
          <a:xfrm flipH="1" flipV="1">
            <a:off x="5433147" y="4391268"/>
            <a:ext cx="938438" cy="582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25" name="TextBox 1124">
            <a:extLst>
              <a:ext uri="{FF2B5EF4-FFF2-40B4-BE49-F238E27FC236}">
                <a16:creationId xmlns:a16="http://schemas.microsoft.com/office/drawing/2014/main" id="{634744E6-2DD7-9122-910A-95A96C5B0A50}"/>
              </a:ext>
            </a:extLst>
          </p:cNvPr>
          <p:cNvSpPr txBox="1"/>
          <p:nvPr/>
        </p:nvSpPr>
        <p:spPr>
          <a:xfrm>
            <a:off x="4395805" y="4492455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3. Delete Deployment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ADBA9241-F41B-1727-F929-61D6F675F4C3}"/>
              </a:ext>
            </a:extLst>
          </p:cNvPr>
          <p:cNvSpPr txBox="1"/>
          <p:nvPr/>
        </p:nvSpPr>
        <p:spPr>
          <a:xfrm>
            <a:off x="8057148" y="4378382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3. Delete Deployment</a:t>
            </a:r>
          </a:p>
        </p:txBody>
      </p:sp>
      <p:cxnSp>
        <p:nvCxnSpPr>
          <p:cNvPr id="1128" name="Straight Arrow Connector 1127">
            <a:extLst>
              <a:ext uri="{FF2B5EF4-FFF2-40B4-BE49-F238E27FC236}">
                <a16:creationId xmlns:a16="http://schemas.microsoft.com/office/drawing/2014/main" id="{E319440A-4D52-1253-CC64-0738E00E23FC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>
          <a:xfrm flipH="1" flipV="1">
            <a:off x="9305081" y="4366789"/>
            <a:ext cx="1372820" cy="371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2D3750F1-6B69-EB3C-9FA5-54CA6184B2E1}"/>
              </a:ext>
            </a:extLst>
          </p:cNvPr>
          <p:cNvSpPr/>
          <p:nvPr/>
        </p:nvSpPr>
        <p:spPr>
          <a:xfrm>
            <a:off x="2405205" y="3813536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DF9A288E-20EF-2F4D-E197-4FE4017C4F7F}"/>
              </a:ext>
            </a:extLst>
          </p:cNvPr>
          <p:cNvSpPr/>
          <p:nvPr/>
        </p:nvSpPr>
        <p:spPr>
          <a:xfrm>
            <a:off x="6327601" y="3826180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79974320-875E-7F2D-1422-9EA462DDD781}"/>
              </a:ext>
            </a:extLst>
          </p:cNvPr>
          <p:cNvSpPr/>
          <p:nvPr/>
        </p:nvSpPr>
        <p:spPr>
          <a:xfrm>
            <a:off x="10144825" y="3717150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cxnSp>
        <p:nvCxnSpPr>
          <p:cNvPr id="1137" name="Straight Arrow Connector 1136">
            <a:extLst>
              <a:ext uri="{FF2B5EF4-FFF2-40B4-BE49-F238E27FC236}">
                <a16:creationId xmlns:a16="http://schemas.microsoft.com/office/drawing/2014/main" id="{818FF9F4-BCFC-785B-F557-3B877F922ECC}"/>
              </a:ext>
            </a:extLst>
          </p:cNvPr>
          <p:cNvCxnSpPr>
            <a:cxnSpLocks/>
            <a:stCxn id="10" idx="0"/>
            <a:endCxn id="1131" idx="2"/>
          </p:cNvCxnSpPr>
          <p:nvPr/>
        </p:nvCxnSpPr>
        <p:spPr>
          <a:xfrm flipH="1" flipV="1">
            <a:off x="2947599" y="4378382"/>
            <a:ext cx="13531" cy="384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40" name="TextBox 1139">
            <a:extLst>
              <a:ext uri="{FF2B5EF4-FFF2-40B4-BE49-F238E27FC236}">
                <a16:creationId xmlns:a16="http://schemas.microsoft.com/office/drawing/2014/main" id="{66D61313-CCE4-2046-B1AC-2371F2169B4B}"/>
              </a:ext>
            </a:extLst>
          </p:cNvPr>
          <p:cNvSpPr txBox="1"/>
          <p:nvPr/>
        </p:nvSpPr>
        <p:spPr>
          <a:xfrm>
            <a:off x="2202529" y="3633785"/>
            <a:ext cx="2014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4. Create Deployment</a:t>
            </a:r>
          </a:p>
        </p:txBody>
      </p:sp>
      <p:pic>
        <p:nvPicPr>
          <p:cNvPr id="1146" name="Picture 2" descr="赤色の×マークイラスト素材透過png">
            <a:extLst>
              <a:ext uri="{FF2B5EF4-FFF2-40B4-BE49-F238E27FC236}">
                <a16:creationId xmlns:a16="http://schemas.microsoft.com/office/drawing/2014/main" id="{F24A937D-39BC-5C45-EA2D-D22508EB0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15" y="3808640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7" name="Picture 2" descr="赤色の×マークイラスト素材透過png">
            <a:extLst>
              <a:ext uri="{FF2B5EF4-FFF2-40B4-BE49-F238E27FC236}">
                <a16:creationId xmlns:a16="http://schemas.microsoft.com/office/drawing/2014/main" id="{08C5AFDD-EFB4-E02E-3C20-38653BDC0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818" y="3823095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8" name="Picture 2" descr="赤色の×マークイラスト素材透過png">
            <a:extLst>
              <a:ext uri="{FF2B5EF4-FFF2-40B4-BE49-F238E27FC236}">
                <a16:creationId xmlns:a16="http://schemas.microsoft.com/office/drawing/2014/main" id="{F8BBB6A7-79D8-8D98-34F9-2D22F5928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331" y="3798616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9" name="TextBox 1148">
            <a:extLst>
              <a:ext uri="{FF2B5EF4-FFF2-40B4-BE49-F238E27FC236}">
                <a16:creationId xmlns:a16="http://schemas.microsoft.com/office/drawing/2014/main" id="{13B55CC4-39CA-E324-F3A4-24B2ADA1D603}"/>
              </a:ext>
            </a:extLst>
          </p:cNvPr>
          <p:cNvSpPr txBox="1"/>
          <p:nvPr/>
        </p:nvSpPr>
        <p:spPr>
          <a:xfrm>
            <a:off x="6237863" y="3578167"/>
            <a:ext cx="2014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4. Create Deployment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0602E0D9-EA62-0660-3AB1-6C999A128DD7}"/>
              </a:ext>
            </a:extLst>
          </p:cNvPr>
          <p:cNvSpPr txBox="1"/>
          <p:nvPr/>
        </p:nvSpPr>
        <p:spPr>
          <a:xfrm>
            <a:off x="9810137" y="3461495"/>
            <a:ext cx="2014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FF0000"/>
                </a:solidFill>
              </a:rPr>
              <a:t>4. Create Deployment</a:t>
            </a:r>
          </a:p>
        </p:txBody>
      </p:sp>
      <p:cxnSp>
        <p:nvCxnSpPr>
          <p:cNvPr id="1151" name="Straight Arrow Connector 1150">
            <a:extLst>
              <a:ext uri="{FF2B5EF4-FFF2-40B4-BE49-F238E27FC236}">
                <a16:creationId xmlns:a16="http://schemas.microsoft.com/office/drawing/2014/main" id="{B6BD1ADF-4AF7-250E-B95C-6D2128A4B517}"/>
              </a:ext>
            </a:extLst>
          </p:cNvPr>
          <p:cNvCxnSpPr>
            <a:cxnSpLocks/>
            <a:stCxn id="29" idx="0"/>
            <a:endCxn id="1133" idx="2"/>
          </p:cNvCxnSpPr>
          <p:nvPr/>
        </p:nvCxnSpPr>
        <p:spPr>
          <a:xfrm flipV="1">
            <a:off x="6805967" y="4391026"/>
            <a:ext cx="64028" cy="371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54" name="Straight Arrow Connector 1153">
            <a:extLst>
              <a:ext uri="{FF2B5EF4-FFF2-40B4-BE49-F238E27FC236}">
                <a16:creationId xmlns:a16="http://schemas.microsoft.com/office/drawing/2014/main" id="{DE0EE7D5-22AD-0A92-4FC5-32723D387CA6}"/>
              </a:ext>
            </a:extLst>
          </p:cNvPr>
          <p:cNvCxnSpPr>
            <a:cxnSpLocks/>
            <a:stCxn id="44" idx="0"/>
            <a:endCxn id="1135" idx="2"/>
          </p:cNvCxnSpPr>
          <p:nvPr/>
        </p:nvCxnSpPr>
        <p:spPr>
          <a:xfrm flipV="1">
            <a:off x="10677901" y="4281996"/>
            <a:ext cx="9318" cy="4560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57" name="Connector: Elbow 1156">
            <a:extLst>
              <a:ext uri="{FF2B5EF4-FFF2-40B4-BE49-F238E27FC236}">
                <a16:creationId xmlns:a16="http://schemas.microsoft.com/office/drawing/2014/main" id="{AAA1DD37-5F6C-AF01-05C2-3C7B03827261}"/>
              </a:ext>
            </a:extLst>
          </p:cNvPr>
          <p:cNvCxnSpPr>
            <a:cxnSpLocks/>
            <a:stCxn id="1042" idx="3"/>
            <a:endCxn id="1037" idx="1"/>
          </p:cNvCxnSpPr>
          <p:nvPr/>
        </p:nvCxnSpPr>
        <p:spPr>
          <a:xfrm flipV="1">
            <a:off x="1898532" y="1034204"/>
            <a:ext cx="167095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60" name="TextBox 1159">
            <a:extLst>
              <a:ext uri="{FF2B5EF4-FFF2-40B4-BE49-F238E27FC236}">
                <a16:creationId xmlns:a16="http://schemas.microsoft.com/office/drawing/2014/main" id="{63741762-0EF8-1B29-2483-58FA2B07169F}"/>
              </a:ext>
            </a:extLst>
          </p:cNvPr>
          <p:cNvSpPr txBox="1"/>
          <p:nvPr/>
        </p:nvSpPr>
        <p:spPr>
          <a:xfrm>
            <a:off x="4325650" y="2509598"/>
            <a:ext cx="6454267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800" b="1" i="1" u="sng" dirty="0">
                <a:solidFill>
                  <a:srgbClr val="FF0000"/>
                </a:solidFill>
              </a:rPr>
              <a:t>Robots, Drones, Cars are NOT ready for upgrade at Edge !!!</a:t>
            </a:r>
          </a:p>
          <a:p>
            <a:r>
              <a:rPr lang="en-US" sz="1800" b="1" i="1" u="sng" dirty="0">
                <a:solidFill>
                  <a:srgbClr val="FF0000"/>
                </a:solidFill>
              </a:rPr>
              <a:t>This possibly leads to the critical and fatal issue!!!</a:t>
            </a:r>
          </a:p>
        </p:txBody>
      </p:sp>
    </p:spTree>
    <p:extLst>
      <p:ext uri="{BB962C8B-B14F-4D97-AF65-F5344CB8AC3E}">
        <p14:creationId xmlns:p14="http://schemas.microsoft.com/office/powerpoint/2010/main" val="304866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10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10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10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1000"/>
                            </p:stCondLst>
                            <p:childTnLst>
                              <p:par>
                                <p:cTn id="5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20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2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20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20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2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20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6" presetClass="entr" presetSubtype="2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20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20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2000"/>
                                        <p:tgtEl>
                                          <p:spTgt spid="1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40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" grpId="0"/>
      <p:bldP spid="1097" grpId="0"/>
      <p:bldP spid="1121" grpId="0"/>
      <p:bldP spid="1125" grpId="0"/>
      <p:bldP spid="1126" grpId="0"/>
      <p:bldP spid="1131" grpId="0" animBg="1"/>
      <p:bldP spid="1133" grpId="0" animBg="1"/>
      <p:bldP spid="1135" grpId="0" animBg="1"/>
      <p:bldP spid="1140" grpId="0"/>
      <p:bldP spid="1149" grpId="0"/>
      <p:bldP spid="1150" grpId="0"/>
      <p:bldP spid="116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2B52-E7D5-6E23-C2F4-09B369CC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6" descr="propeller, quadcopter, drone vector icon illustration 23196830 Vector Art  at Vecteezy">
            <a:extLst>
              <a:ext uri="{FF2B5EF4-FFF2-40B4-BE49-F238E27FC236}">
                <a16:creationId xmlns:a16="http://schemas.microsoft.com/office/drawing/2014/main" id="{2D855D7D-34A4-641F-5722-7C6BAA7FD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271" y="6156730"/>
            <a:ext cx="764704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BD1160-624F-4652-FA90-F0461CCE72B0}"/>
              </a:ext>
            </a:extLst>
          </p:cNvPr>
          <p:cNvSpPr/>
          <p:nvPr/>
        </p:nvSpPr>
        <p:spPr>
          <a:xfrm>
            <a:off x="757884" y="3466383"/>
            <a:ext cx="2999327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662A7-56AE-72A7-6535-F00514126D80}"/>
              </a:ext>
            </a:extLst>
          </p:cNvPr>
          <p:cNvSpPr txBox="1"/>
          <p:nvPr/>
        </p:nvSpPr>
        <p:spPr>
          <a:xfrm>
            <a:off x="724863" y="3455891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Edge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BD0C3-1BE9-6A76-6170-E65291C77A19}"/>
              </a:ext>
            </a:extLst>
          </p:cNvPr>
          <p:cNvSpPr/>
          <p:nvPr/>
        </p:nvSpPr>
        <p:spPr>
          <a:xfrm>
            <a:off x="1045916" y="4546502"/>
            <a:ext cx="2460857" cy="103873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edgecore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618D6-5B02-7B74-F9F3-67A8D29F84DC}"/>
              </a:ext>
            </a:extLst>
          </p:cNvPr>
          <p:cNvSpPr/>
          <p:nvPr/>
        </p:nvSpPr>
        <p:spPr>
          <a:xfrm>
            <a:off x="1045916" y="3826422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B5E74-109D-B6FB-BCF6-F223E23A45AF}"/>
              </a:ext>
            </a:extLst>
          </p:cNvPr>
          <p:cNvSpPr/>
          <p:nvPr/>
        </p:nvSpPr>
        <p:spPr>
          <a:xfrm>
            <a:off x="1207092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Meta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203EE-0A5B-C8F5-EF20-3A8B12403ED3}"/>
              </a:ext>
            </a:extLst>
          </p:cNvPr>
          <p:cNvSpPr/>
          <p:nvPr/>
        </p:nvSpPr>
        <p:spPr>
          <a:xfrm>
            <a:off x="2526748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edged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BFB500-F3A2-2D72-14B0-691950D7A7F1}"/>
              </a:ext>
            </a:extLst>
          </p:cNvPr>
          <p:cNvSpPr/>
          <p:nvPr/>
        </p:nvSpPr>
        <p:spPr>
          <a:xfrm>
            <a:off x="1060292" y="5659093"/>
            <a:ext cx="2443232" cy="25556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Host System (Linux)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1026" name="Picture 2" descr="812 Actuator Icon Stock Vectors and Vector Art | Shutterstock">
            <a:extLst>
              <a:ext uri="{FF2B5EF4-FFF2-40B4-BE49-F238E27FC236}">
                <a16:creationId xmlns:a16="http://schemas.microsoft.com/office/drawing/2014/main" id="{0D87B56A-D67A-A450-1962-706B3FF7E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066" y="6181209"/>
            <a:ext cx="696466" cy="6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tailed car wheel outline illustration for automotive design | Premium  Vector">
            <a:extLst>
              <a:ext uri="{FF2B5EF4-FFF2-40B4-BE49-F238E27FC236}">
                <a16:creationId xmlns:a16="http://schemas.microsoft.com/office/drawing/2014/main" id="{9F1A6735-FEA5-33E8-3057-2576595F3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702" y="6376623"/>
            <a:ext cx="451284" cy="45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peller, quadcopter, drone vector icon illustration 23196830 Vector Art  at Vecteezy">
            <a:extLst>
              <a:ext uri="{FF2B5EF4-FFF2-40B4-BE49-F238E27FC236}">
                <a16:creationId xmlns:a16="http://schemas.microsoft.com/office/drawing/2014/main" id="{B85F5A7B-E7C4-889D-73C5-55BA35B6F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042" y="6181209"/>
            <a:ext cx="764704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28CE7A-9B0D-1DD9-50DF-06831FD515A7}"/>
              </a:ext>
            </a:extLst>
          </p:cNvPr>
          <p:cNvCxnSpPr>
            <a:cxnSpLocks/>
          </p:cNvCxnSpPr>
          <p:nvPr/>
        </p:nvCxnSpPr>
        <p:spPr>
          <a:xfrm>
            <a:off x="1550299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F6E68D-0C34-03ED-F74C-E820EB1BD75F}"/>
              </a:ext>
            </a:extLst>
          </p:cNvPr>
          <p:cNvCxnSpPr>
            <a:cxnSpLocks/>
          </p:cNvCxnSpPr>
          <p:nvPr/>
        </p:nvCxnSpPr>
        <p:spPr>
          <a:xfrm>
            <a:off x="2285156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F0195D8-D74C-FFB9-F240-4CE9A53D4010}"/>
              </a:ext>
            </a:extLst>
          </p:cNvPr>
          <p:cNvCxnSpPr>
            <a:cxnSpLocks/>
          </p:cNvCxnSpPr>
          <p:nvPr/>
        </p:nvCxnSpPr>
        <p:spPr>
          <a:xfrm>
            <a:off x="3105088" y="591274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Humanoid robot vector outline illustration | Premium AI-generated vector">
            <a:extLst>
              <a:ext uri="{FF2B5EF4-FFF2-40B4-BE49-F238E27FC236}">
                <a16:creationId xmlns:a16="http://schemas.microsoft.com/office/drawing/2014/main" id="{028DE888-6E1D-D0F6-6287-7EFD92113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4269" y="2642566"/>
            <a:ext cx="1005697" cy="1005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8723F9D-868C-FF69-2A56-8E02C3D5C152}"/>
              </a:ext>
            </a:extLst>
          </p:cNvPr>
          <p:cNvSpPr/>
          <p:nvPr/>
        </p:nvSpPr>
        <p:spPr>
          <a:xfrm>
            <a:off x="4602721" y="3466383"/>
            <a:ext cx="2999327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62DA8D-D460-92F8-7398-24CC94D27B09}"/>
              </a:ext>
            </a:extLst>
          </p:cNvPr>
          <p:cNvSpPr txBox="1"/>
          <p:nvPr/>
        </p:nvSpPr>
        <p:spPr>
          <a:xfrm>
            <a:off x="4569700" y="3455891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Edge Node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F96297-C309-ED2A-D2D0-C8FD514A9E9C}"/>
              </a:ext>
            </a:extLst>
          </p:cNvPr>
          <p:cNvSpPr/>
          <p:nvPr/>
        </p:nvSpPr>
        <p:spPr>
          <a:xfrm>
            <a:off x="4890753" y="4546502"/>
            <a:ext cx="2460857" cy="103873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edgecore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866563-B72D-7907-EC1F-2B50AFD77DD4}"/>
              </a:ext>
            </a:extLst>
          </p:cNvPr>
          <p:cNvSpPr/>
          <p:nvPr/>
        </p:nvSpPr>
        <p:spPr>
          <a:xfrm>
            <a:off x="4890753" y="3826422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972F21-847A-38AE-07E9-F21F34D7310A}"/>
              </a:ext>
            </a:extLst>
          </p:cNvPr>
          <p:cNvSpPr/>
          <p:nvPr/>
        </p:nvSpPr>
        <p:spPr>
          <a:xfrm>
            <a:off x="5051929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Meta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5DAC8C1-B9C0-7A4A-4750-BB1E91FD4191}"/>
              </a:ext>
            </a:extLst>
          </p:cNvPr>
          <p:cNvSpPr/>
          <p:nvPr/>
        </p:nvSpPr>
        <p:spPr>
          <a:xfrm>
            <a:off x="6371585" y="4762526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edged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1EA48F-8946-5F64-677F-C6A2AB77985A}"/>
              </a:ext>
            </a:extLst>
          </p:cNvPr>
          <p:cNvSpPr/>
          <p:nvPr/>
        </p:nvSpPr>
        <p:spPr>
          <a:xfrm>
            <a:off x="4905129" y="5659093"/>
            <a:ext cx="2443232" cy="25556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Host System (Linux)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31" name="Picture 2" descr="812 Actuator Icon Stock Vectors and Vector Art | Shutterstock">
            <a:extLst>
              <a:ext uri="{FF2B5EF4-FFF2-40B4-BE49-F238E27FC236}">
                <a16:creationId xmlns:a16="http://schemas.microsoft.com/office/drawing/2014/main" id="{F3760088-3793-0821-B441-2AE5C5331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903" y="6181209"/>
            <a:ext cx="696466" cy="6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Detailed car wheel outline illustration for automotive design | Premium  Vector">
            <a:extLst>
              <a:ext uri="{FF2B5EF4-FFF2-40B4-BE49-F238E27FC236}">
                <a16:creationId xmlns:a16="http://schemas.microsoft.com/office/drawing/2014/main" id="{2EF03F6E-B6B7-711C-5C64-AAC0D87B1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539" y="6376623"/>
            <a:ext cx="451284" cy="45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" descr="propeller, quadcopter, drone vector icon illustration 23196830 Vector Art  at Vecteezy">
            <a:extLst>
              <a:ext uri="{FF2B5EF4-FFF2-40B4-BE49-F238E27FC236}">
                <a16:creationId xmlns:a16="http://schemas.microsoft.com/office/drawing/2014/main" id="{EAD95DC0-01A9-92FD-E53C-3337FE72C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879" y="6181209"/>
            <a:ext cx="764704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8509C8-3E3B-2C45-7636-685AC7C0C2E7}"/>
              </a:ext>
            </a:extLst>
          </p:cNvPr>
          <p:cNvCxnSpPr>
            <a:cxnSpLocks/>
          </p:cNvCxnSpPr>
          <p:nvPr/>
        </p:nvCxnSpPr>
        <p:spPr>
          <a:xfrm>
            <a:off x="5395136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A8E94BB-0AEF-A3BC-DF3C-2FB38FF3DA45}"/>
              </a:ext>
            </a:extLst>
          </p:cNvPr>
          <p:cNvCxnSpPr>
            <a:cxnSpLocks/>
          </p:cNvCxnSpPr>
          <p:nvPr/>
        </p:nvCxnSpPr>
        <p:spPr>
          <a:xfrm>
            <a:off x="6129993" y="5914655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1974F69-FC16-68CF-3950-12C55B2800A7}"/>
              </a:ext>
            </a:extLst>
          </p:cNvPr>
          <p:cNvCxnSpPr>
            <a:cxnSpLocks/>
          </p:cNvCxnSpPr>
          <p:nvPr/>
        </p:nvCxnSpPr>
        <p:spPr>
          <a:xfrm>
            <a:off x="6949925" y="591274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Picture 14" descr="6,500+ Ev Charger Illustrations Stock Illustrations, Royalty-Free Vector  Graphics &amp; Clip Art - iStock">
            <a:extLst>
              <a:ext uri="{FF2B5EF4-FFF2-40B4-BE49-F238E27FC236}">
                <a16:creationId xmlns:a16="http://schemas.microsoft.com/office/drawing/2014/main" id="{FDEEB3E0-C2D3-640E-155A-82F8C79FA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916" y="2884652"/>
            <a:ext cx="1363083" cy="88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826C36FF-6FEC-7D8C-78C6-8379D8857864}"/>
              </a:ext>
            </a:extLst>
          </p:cNvPr>
          <p:cNvSpPr/>
          <p:nvPr/>
        </p:nvSpPr>
        <p:spPr>
          <a:xfrm>
            <a:off x="8474655" y="3441904"/>
            <a:ext cx="2999327" cy="259228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AF8FB8-440C-C44B-D00E-E97ADD68CFF3}"/>
              </a:ext>
            </a:extLst>
          </p:cNvPr>
          <p:cNvSpPr txBox="1"/>
          <p:nvPr/>
        </p:nvSpPr>
        <p:spPr>
          <a:xfrm>
            <a:off x="8441634" y="3431412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Edge Node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766694-B3CB-61D8-554F-0765D9093C4F}"/>
              </a:ext>
            </a:extLst>
          </p:cNvPr>
          <p:cNvSpPr/>
          <p:nvPr/>
        </p:nvSpPr>
        <p:spPr>
          <a:xfrm>
            <a:off x="8762687" y="4522023"/>
            <a:ext cx="2460857" cy="103873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edgecore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8D5564-BDA3-57DE-F5B8-D477A48144BE}"/>
              </a:ext>
            </a:extLst>
          </p:cNvPr>
          <p:cNvSpPr/>
          <p:nvPr/>
        </p:nvSpPr>
        <p:spPr>
          <a:xfrm>
            <a:off x="8762687" y="3801943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DDAF18-B1D1-419C-E6A2-28C69F0D49FB}"/>
              </a:ext>
            </a:extLst>
          </p:cNvPr>
          <p:cNvSpPr/>
          <p:nvPr/>
        </p:nvSpPr>
        <p:spPr>
          <a:xfrm>
            <a:off x="8923863" y="4738047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Meta</a:t>
            </a:r>
          </a:p>
          <a:p>
            <a:pPr algn="ctr"/>
            <a:r>
              <a:rPr kumimoji="1" lang="en-US" sz="1400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C749344-48D0-A514-6575-9D875E7132E1}"/>
              </a:ext>
            </a:extLst>
          </p:cNvPr>
          <p:cNvSpPr/>
          <p:nvPr/>
        </p:nvSpPr>
        <p:spPr>
          <a:xfrm>
            <a:off x="10243519" y="4738047"/>
            <a:ext cx="868764" cy="4219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edged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4288C9-8012-D263-BC59-68648C07863A}"/>
              </a:ext>
            </a:extLst>
          </p:cNvPr>
          <p:cNvSpPr/>
          <p:nvPr/>
        </p:nvSpPr>
        <p:spPr>
          <a:xfrm>
            <a:off x="8777063" y="5634614"/>
            <a:ext cx="2443232" cy="255562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Host System (Linux)</a:t>
            </a:r>
            <a:endParaRPr kumimoji="1" lang="en-US" sz="1400" dirty="0">
              <a:solidFill>
                <a:schemeClr val="tx1"/>
              </a:solidFill>
            </a:endParaRPr>
          </a:p>
        </p:txBody>
      </p:sp>
      <p:pic>
        <p:nvPicPr>
          <p:cNvPr id="46" name="Picture 2" descr="812 Actuator Icon Stock Vectors and Vector Art | Shutterstock">
            <a:extLst>
              <a:ext uri="{FF2B5EF4-FFF2-40B4-BE49-F238E27FC236}">
                <a16:creationId xmlns:a16="http://schemas.microsoft.com/office/drawing/2014/main" id="{C0FF4D3C-7930-8C9D-6CE6-89EF9345E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837" y="6156730"/>
            <a:ext cx="696466" cy="69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" descr="Detailed car wheel outline illustration for automotive design | Premium  Vector">
            <a:extLst>
              <a:ext uri="{FF2B5EF4-FFF2-40B4-BE49-F238E27FC236}">
                <a16:creationId xmlns:a16="http://schemas.microsoft.com/office/drawing/2014/main" id="{5CEC73BD-A505-4E9F-6C0C-89BF656AF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7473" y="6352144"/>
            <a:ext cx="451284" cy="451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B76EB7F-495A-3A69-7BBD-C5D0E5210A50}"/>
              </a:ext>
            </a:extLst>
          </p:cNvPr>
          <p:cNvCxnSpPr>
            <a:cxnSpLocks/>
          </p:cNvCxnSpPr>
          <p:nvPr/>
        </p:nvCxnSpPr>
        <p:spPr>
          <a:xfrm>
            <a:off x="9267070" y="5890176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41D31AA-7183-80E5-4B66-DDFF6C5A0174}"/>
              </a:ext>
            </a:extLst>
          </p:cNvPr>
          <p:cNvCxnSpPr>
            <a:cxnSpLocks/>
          </p:cNvCxnSpPr>
          <p:nvPr/>
        </p:nvCxnSpPr>
        <p:spPr>
          <a:xfrm>
            <a:off x="10001927" y="5890176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D2C78D5-7F58-662B-A676-7E24685B5274}"/>
              </a:ext>
            </a:extLst>
          </p:cNvPr>
          <p:cNvCxnSpPr>
            <a:cxnSpLocks/>
          </p:cNvCxnSpPr>
          <p:nvPr/>
        </p:nvCxnSpPr>
        <p:spPr>
          <a:xfrm>
            <a:off x="10821859" y="5888269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0" name="Picture 16" descr="144+ Thousand Drone Illustration Royalty-Free Images, Stock Photos &amp;  Pictures | Shutterstock">
            <a:extLst>
              <a:ext uri="{FF2B5EF4-FFF2-40B4-BE49-F238E27FC236}">
                <a16:creationId xmlns:a16="http://schemas.microsoft.com/office/drawing/2014/main" id="{E6148522-1A3B-5EA2-60B5-0F6DC2AA7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2623" y="2791301"/>
            <a:ext cx="906351" cy="90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89A5350-4B78-EFFA-C237-C64BC116E032}"/>
              </a:ext>
            </a:extLst>
          </p:cNvPr>
          <p:cNvCxnSpPr>
            <a:cxnSpLocks/>
          </p:cNvCxnSpPr>
          <p:nvPr/>
        </p:nvCxnSpPr>
        <p:spPr>
          <a:xfrm>
            <a:off x="459139" y="2530279"/>
            <a:ext cx="11115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EA5659A-12C7-14AB-85CB-0DD3B4C4C3AE}"/>
              </a:ext>
            </a:extLst>
          </p:cNvPr>
          <p:cNvSpPr txBox="1"/>
          <p:nvPr/>
        </p:nvSpPr>
        <p:spPr>
          <a:xfrm>
            <a:off x="207941" y="2222502"/>
            <a:ext cx="663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Cloud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92870D-F2C1-FCE6-C94A-1D24DD044856}"/>
              </a:ext>
            </a:extLst>
          </p:cNvPr>
          <p:cNvSpPr txBox="1"/>
          <p:nvPr/>
        </p:nvSpPr>
        <p:spPr>
          <a:xfrm>
            <a:off x="197694" y="2519880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Edge (thousands of devices)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BD894C2-DCC8-CF31-FCA0-CCDDE31C7CF7}"/>
              </a:ext>
            </a:extLst>
          </p:cNvPr>
          <p:cNvSpPr/>
          <p:nvPr/>
        </p:nvSpPr>
        <p:spPr>
          <a:xfrm>
            <a:off x="4890753" y="1810199"/>
            <a:ext cx="2460857" cy="61865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CloudCore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 err="1">
                <a:solidFill>
                  <a:schemeClr val="tx1"/>
                </a:solidFill>
              </a:rPr>
              <a:t>KubeEdge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42" name="Picture 18" descr="User Icon Vector Art, Icons, and Graphics for Free Download">
            <a:extLst>
              <a:ext uri="{FF2B5EF4-FFF2-40B4-BE49-F238E27FC236}">
                <a16:creationId xmlns:a16="http://schemas.microsoft.com/office/drawing/2014/main" id="{AE00DF82-97C8-5894-F75C-E885C09F9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607" y="546242"/>
            <a:ext cx="975925" cy="97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EB23A9FE-FF5E-2096-E284-3FEBFB296F6A}"/>
              </a:ext>
            </a:extLst>
          </p:cNvPr>
          <p:cNvCxnSpPr>
            <a:cxnSpLocks/>
            <a:stCxn id="57" idx="1"/>
            <a:endCxn id="4" idx="3"/>
          </p:cNvCxnSpPr>
          <p:nvPr/>
        </p:nvCxnSpPr>
        <p:spPr>
          <a:xfrm rot="10800000" flipV="1">
            <a:off x="3506773" y="2119524"/>
            <a:ext cx="1383980" cy="29463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86525020-AD7F-C662-1DD1-35C7FE8CEA36}"/>
              </a:ext>
            </a:extLst>
          </p:cNvPr>
          <p:cNvCxnSpPr>
            <a:cxnSpLocks/>
            <a:stCxn id="57" idx="2"/>
            <a:endCxn id="25" idx="0"/>
          </p:cNvCxnSpPr>
          <p:nvPr/>
        </p:nvCxnSpPr>
        <p:spPr>
          <a:xfrm>
            <a:off x="6121182" y="2428851"/>
            <a:ext cx="0" cy="2117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33" name="Connector: Elbow 1032">
            <a:extLst>
              <a:ext uri="{FF2B5EF4-FFF2-40B4-BE49-F238E27FC236}">
                <a16:creationId xmlns:a16="http://schemas.microsoft.com/office/drawing/2014/main" id="{2BD3EBC7-D7AB-9735-3448-050CA5006E41}"/>
              </a:ext>
            </a:extLst>
          </p:cNvPr>
          <p:cNvCxnSpPr>
            <a:cxnSpLocks/>
            <a:stCxn id="57" idx="3"/>
            <a:endCxn id="40" idx="1"/>
          </p:cNvCxnSpPr>
          <p:nvPr/>
        </p:nvCxnSpPr>
        <p:spPr>
          <a:xfrm>
            <a:off x="7351610" y="2119525"/>
            <a:ext cx="1411077" cy="29218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8B98B5FF-EC65-6284-4650-6504E317F763}"/>
              </a:ext>
            </a:extLst>
          </p:cNvPr>
          <p:cNvSpPr/>
          <p:nvPr/>
        </p:nvSpPr>
        <p:spPr>
          <a:xfrm>
            <a:off x="3569485" y="724878"/>
            <a:ext cx="2460857" cy="618652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Kubernetes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API - Server</a:t>
            </a:r>
          </a:p>
        </p:txBody>
      </p:sp>
      <p:cxnSp>
        <p:nvCxnSpPr>
          <p:cNvPr id="1039" name="Connector: Elbow 1038">
            <a:extLst>
              <a:ext uri="{FF2B5EF4-FFF2-40B4-BE49-F238E27FC236}">
                <a16:creationId xmlns:a16="http://schemas.microsoft.com/office/drawing/2014/main" id="{961F451B-813C-F2F6-7EF5-9F149211743B}"/>
              </a:ext>
            </a:extLst>
          </p:cNvPr>
          <p:cNvCxnSpPr>
            <a:cxnSpLocks/>
            <a:stCxn id="1037" idx="2"/>
            <a:endCxn id="57" idx="0"/>
          </p:cNvCxnSpPr>
          <p:nvPr/>
        </p:nvCxnSpPr>
        <p:spPr>
          <a:xfrm rot="16200000" flipH="1">
            <a:off x="5227214" y="916230"/>
            <a:ext cx="466669" cy="13212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AB9C8928-9CF3-4BBB-9AB1-9AD85FEF4795}"/>
              </a:ext>
            </a:extLst>
          </p:cNvPr>
          <p:cNvGrpSpPr/>
          <p:nvPr/>
        </p:nvGrpSpPr>
        <p:grpSpPr>
          <a:xfrm>
            <a:off x="8082965" y="477466"/>
            <a:ext cx="3034793" cy="1307581"/>
            <a:chOff x="7408268" y="217765"/>
            <a:chExt cx="3034793" cy="1307581"/>
          </a:xfrm>
        </p:grpSpPr>
        <p:sp>
          <p:nvSpPr>
            <p:cNvPr id="1057" name="Rectangle 1056">
              <a:extLst>
                <a:ext uri="{FF2B5EF4-FFF2-40B4-BE49-F238E27FC236}">
                  <a16:creationId xmlns:a16="http://schemas.microsoft.com/office/drawing/2014/main" id="{839F0547-3F69-A56C-076E-7319F0A7EE37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5C96919D-C1E0-3324-7587-FD13D8A7AD34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59" name="Rectangle 1058">
              <a:extLst>
                <a:ext uri="{FF2B5EF4-FFF2-40B4-BE49-F238E27FC236}">
                  <a16:creationId xmlns:a16="http://schemas.microsoft.com/office/drawing/2014/main" id="{CB890612-DA24-F245-8223-3C4A9C957F75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60" name="Rectangle 1059">
              <a:extLst>
                <a:ext uri="{FF2B5EF4-FFF2-40B4-BE49-F238E27FC236}">
                  <a16:creationId xmlns:a16="http://schemas.microsoft.com/office/drawing/2014/main" id="{DA3B70D7-4625-1A67-60F2-3A0F35DA45F6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61" name="Rectangle 1060">
              <a:extLst>
                <a:ext uri="{FF2B5EF4-FFF2-40B4-BE49-F238E27FC236}">
                  <a16:creationId xmlns:a16="http://schemas.microsoft.com/office/drawing/2014/main" id="{59637138-FDE2-C946-A461-DF0D72173D5B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62" name="Rectangle 1061">
              <a:extLst>
                <a:ext uri="{FF2B5EF4-FFF2-40B4-BE49-F238E27FC236}">
                  <a16:creationId xmlns:a16="http://schemas.microsoft.com/office/drawing/2014/main" id="{83978E91-5A62-7255-A049-F9C8527360FA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57BED3A2-4D0E-D4EF-F03A-A97499082E17}"/>
              </a:ext>
            </a:extLst>
          </p:cNvPr>
          <p:cNvGrpSpPr/>
          <p:nvPr/>
        </p:nvGrpSpPr>
        <p:grpSpPr>
          <a:xfrm>
            <a:off x="8235365" y="629866"/>
            <a:ext cx="3034793" cy="1307581"/>
            <a:chOff x="7408268" y="217765"/>
            <a:chExt cx="3034793" cy="1307581"/>
          </a:xfrm>
        </p:grpSpPr>
        <p:sp>
          <p:nvSpPr>
            <p:cNvPr id="1069" name="Rectangle 1068">
              <a:extLst>
                <a:ext uri="{FF2B5EF4-FFF2-40B4-BE49-F238E27FC236}">
                  <a16:creationId xmlns:a16="http://schemas.microsoft.com/office/drawing/2014/main" id="{451E1563-6E23-BE1B-9EE8-DD3224DDB476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BAC3D94C-107A-8EF0-403F-C66A1AC0B244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71" name="Rectangle 1070">
              <a:extLst>
                <a:ext uri="{FF2B5EF4-FFF2-40B4-BE49-F238E27FC236}">
                  <a16:creationId xmlns:a16="http://schemas.microsoft.com/office/drawing/2014/main" id="{5F3F83C9-9AF9-FF07-7526-D40CD46E2AE8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72" name="Rectangle 1071">
              <a:extLst>
                <a:ext uri="{FF2B5EF4-FFF2-40B4-BE49-F238E27FC236}">
                  <a16:creationId xmlns:a16="http://schemas.microsoft.com/office/drawing/2014/main" id="{14230CAA-8EB8-232E-E99F-CFC562768D4E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73" name="Rectangle 1072">
              <a:extLst>
                <a:ext uri="{FF2B5EF4-FFF2-40B4-BE49-F238E27FC236}">
                  <a16:creationId xmlns:a16="http://schemas.microsoft.com/office/drawing/2014/main" id="{18735D31-760F-764B-C3DC-77844E2B93B6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74" name="Rectangle 1073">
              <a:extLst>
                <a:ext uri="{FF2B5EF4-FFF2-40B4-BE49-F238E27FC236}">
                  <a16:creationId xmlns:a16="http://schemas.microsoft.com/office/drawing/2014/main" id="{25495725-AA42-59C3-5A18-842A51841695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7D730B8B-7CE4-82C1-F0CF-5EA1AEAB6DA3}"/>
              </a:ext>
            </a:extLst>
          </p:cNvPr>
          <p:cNvGrpSpPr/>
          <p:nvPr/>
        </p:nvGrpSpPr>
        <p:grpSpPr>
          <a:xfrm>
            <a:off x="8387765" y="782266"/>
            <a:ext cx="3034793" cy="1307581"/>
            <a:chOff x="7408268" y="217765"/>
            <a:chExt cx="3034793" cy="1307581"/>
          </a:xfrm>
        </p:grpSpPr>
        <p:sp>
          <p:nvSpPr>
            <p:cNvPr id="1076" name="Rectangle 1075">
              <a:extLst>
                <a:ext uri="{FF2B5EF4-FFF2-40B4-BE49-F238E27FC236}">
                  <a16:creationId xmlns:a16="http://schemas.microsoft.com/office/drawing/2014/main" id="{490637BD-7507-3308-2260-4B797310F917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77" name="TextBox 1076">
              <a:extLst>
                <a:ext uri="{FF2B5EF4-FFF2-40B4-BE49-F238E27FC236}">
                  <a16:creationId xmlns:a16="http://schemas.microsoft.com/office/drawing/2014/main" id="{86FEBBBC-C51C-14AF-B05B-D72D1A90535B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871AC08F-B59A-788E-8245-2EB1D911BCAD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79" name="Rectangle 1078">
              <a:extLst>
                <a:ext uri="{FF2B5EF4-FFF2-40B4-BE49-F238E27FC236}">
                  <a16:creationId xmlns:a16="http://schemas.microsoft.com/office/drawing/2014/main" id="{358A8ABA-4667-F6C9-D03E-B79B62905F60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0" name="Rectangle 1079">
              <a:extLst>
                <a:ext uri="{FF2B5EF4-FFF2-40B4-BE49-F238E27FC236}">
                  <a16:creationId xmlns:a16="http://schemas.microsoft.com/office/drawing/2014/main" id="{70B0EB9B-DCEE-EBCE-78AF-E65030FFD554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F0219482-71A9-9EBC-4930-909EE985C037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B21B45F4-F320-3789-6D2C-D6BE42178AB9}"/>
              </a:ext>
            </a:extLst>
          </p:cNvPr>
          <p:cNvGrpSpPr/>
          <p:nvPr/>
        </p:nvGrpSpPr>
        <p:grpSpPr>
          <a:xfrm>
            <a:off x="8540165" y="934666"/>
            <a:ext cx="3034793" cy="1307581"/>
            <a:chOff x="7408268" y="217765"/>
            <a:chExt cx="3034793" cy="1307581"/>
          </a:xfrm>
        </p:grpSpPr>
        <p:sp>
          <p:nvSpPr>
            <p:cNvPr id="1083" name="Rectangle 1082">
              <a:extLst>
                <a:ext uri="{FF2B5EF4-FFF2-40B4-BE49-F238E27FC236}">
                  <a16:creationId xmlns:a16="http://schemas.microsoft.com/office/drawing/2014/main" id="{33FF781E-021C-55B8-54B5-0DBAA2779533}"/>
                </a:ext>
              </a:extLst>
            </p:cNvPr>
            <p:cNvSpPr/>
            <p:nvPr/>
          </p:nvSpPr>
          <p:spPr>
            <a:xfrm>
              <a:off x="7443734" y="236765"/>
              <a:ext cx="2999327" cy="128858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en-US" sz="2000"/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716E6AEC-02AA-0271-8D9D-D35DF4DCA065}"/>
                </a:ext>
              </a:extLst>
            </p:cNvPr>
            <p:cNvSpPr txBox="1"/>
            <p:nvPr/>
          </p:nvSpPr>
          <p:spPr>
            <a:xfrm>
              <a:off x="7408268" y="217765"/>
              <a:ext cx="1491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Cloud Instances</a:t>
              </a:r>
            </a:p>
          </p:txBody>
        </p:sp>
        <p:sp>
          <p:nvSpPr>
            <p:cNvPr id="1085" name="Rectangle 1084">
              <a:extLst>
                <a:ext uri="{FF2B5EF4-FFF2-40B4-BE49-F238E27FC236}">
                  <a16:creationId xmlns:a16="http://schemas.microsoft.com/office/drawing/2014/main" id="{705B12BC-DA1B-336B-8CD2-6A04242B6CDB}"/>
                </a:ext>
              </a:extLst>
            </p:cNvPr>
            <p:cNvSpPr/>
            <p:nvPr/>
          </p:nvSpPr>
          <p:spPr>
            <a:xfrm>
              <a:off x="7731767" y="887274"/>
              <a:ext cx="2261952" cy="205621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kubelet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86" name="Rectangle 1085">
              <a:extLst>
                <a:ext uri="{FF2B5EF4-FFF2-40B4-BE49-F238E27FC236}">
                  <a16:creationId xmlns:a16="http://schemas.microsoft.com/office/drawing/2014/main" id="{67F381F0-C445-5F4C-A5D0-45665A1066EA}"/>
                </a:ext>
              </a:extLst>
            </p:cNvPr>
            <p:cNvSpPr/>
            <p:nvPr/>
          </p:nvSpPr>
          <p:spPr>
            <a:xfrm>
              <a:off x="7731766" y="527234"/>
              <a:ext cx="1084788" cy="286945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AFACB056-F633-FA54-0A5F-39A266A186F0}"/>
                </a:ext>
              </a:extLst>
            </p:cNvPr>
            <p:cNvSpPr/>
            <p:nvPr/>
          </p:nvSpPr>
          <p:spPr>
            <a:xfrm>
              <a:off x="8914852" y="530955"/>
              <a:ext cx="1084788" cy="300034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App </a:t>
              </a:r>
              <a:r>
                <a:rPr kumimoji="1" lang="en-US" sz="1400" dirty="0">
                  <a:solidFill>
                    <a:schemeClr val="tx1"/>
                  </a:solidFill>
                </a:rPr>
                <a:t>Pod</a:t>
              </a:r>
            </a:p>
          </p:txBody>
        </p:sp>
        <p:sp>
          <p:nvSpPr>
            <p:cNvPr id="1088" name="Rectangle 1087">
              <a:extLst>
                <a:ext uri="{FF2B5EF4-FFF2-40B4-BE49-F238E27FC236}">
                  <a16:creationId xmlns:a16="http://schemas.microsoft.com/office/drawing/2014/main" id="{FF2035C2-0D5A-0879-88C2-A3D2E17C7572}"/>
                </a:ext>
              </a:extLst>
            </p:cNvPr>
            <p:cNvSpPr/>
            <p:nvPr/>
          </p:nvSpPr>
          <p:spPr>
            <a:xfrm>
              <a:off x="7746142" y="1181959"/>
              <a:ext cx="2247577" cy="235096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Host System (Linux)</a:t>
              </a:r>
              <a:endParaRPr kumimoji="1" lang="en-US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91" name="Connector: Elbow 1090">
            <a:extLst>
              <a:ext uri="{FF2B5EF4-FFF2-40B4-BE49-F238E27FC236}">
                <a16:creationId xmlns:a16="http://schemas.microsoft.com/office/drawing/2014/main" id="{9E587924-0D27-9680-B8D6-2CD6993E844D}"/>
              </a:ext>
            </a:extLst>
          </p:cNvPr>
          <p:cNvCxnSpPr>
            <a:cxnSpLocks/>
            <a:stCxn id="1042" idx="3"/>
            <a:endCxn id="1037" idx="1"/>
          </p:cNvCxnSpPr>
          <p:nvPr/>
        </p:nvCxnSpPr>
        <p:spPr>
          <a:xfrm flipV="1">
            <a:off x="1898532" y="1034204"/>
            <a:ext cx="1670953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6D172EA1-3471-A1D1-1431-5A36FEFDF7AA}"/>
              </a:ext>
            </a:extLst>
          </p:cNvPr>
          <p:cNvCxnSpPr>
            <a:cxnSpLocks/>
            <a:stCxn id="1037" idx="3"/>
            <a:endCxn id="1085" idx="1"/>
          </p:cNvCxnSpPr>
          <p:nvPr/>
        </p:nvCxnSpPr>
        <p:spPr>
          <a:xfrm>
            <a:off x="6030342" y="1034204"/>
            <a:ext cx="2833322" cy="6727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4CD66C3-382D-6072-FA96-2F544B21FF64}"/>
              </a:ext>
            </a:extLst>
          </p:cNvPr>
          <p:cNvSpPr txBox="1"/>
          <p:nvPr/>
        </p:nvSpPr>
        <p:spPr>
          <a:xfrm>
            <a:off x="2097412" y="1078207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1. Upgrade</a:t>
            </a:r>
          </a:p>
          <a:p>
            <a:r>
              <a:rPr lang="en-US" sz="1400" b="1" i="1" u="sng" dirty="0">
                <a:solidFill>
                  <a:srgbClr val="0000FF"/>
                </a:solidFill>
              </a:rPr>
              <a:t>Deployment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3A0D7930-6BC7-A0B5-295D-5CAA01A67258}"/>
              </a:ext>
            </a:extLst>
          </p:cNvPr>
          <p:cNvSpPr txBox="1"/>
          <p:nvPr/>
        </p:nvSpPr>
        <p:spPr>
          <a:xfrm>
            <a:off x="2914395" y="1845418"/>
            <a:ext cx="2531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2. Send request to </a:t>
            </a:r>
            <a:r>
              <a:rPr lang="en-US" sz="1400" b="1" i="1" u="sng" dirty="0" err="1">
                <a:solidFill>
                  <a:srgbClr val="0000FF"/>
                </a:solidFill>
              </a:rPr>
              <a:t>edgecore</a:t>
            </a:r>
            <a:endParaRPr lang="en-US" sz="1400" b="1" i="1" u="sng" dirty="0">
              <a:solidFill>
                <a:srgbClr val="0000FF"/>
              </a:solidFill>
            </a:endParaRP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87E0482E-6098-0149-CE9B-274F86D84042}"/>
              </a:ext>
            </a:extLst>
          </p:cNvPr>
          <p:cNvSpPr txBox="1"/>
          <p:nvPr/>
        </p:nvSpPr>
        <p:spPr>
          <a:xfrm>
            <a:off x="56756" y="1147"/>
            <a:ext cx="598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u="sng" dirty="0">
                <a:solidFill>
                  <a:srgbClr val="0000FF"/>
                </a:solidFill>
              </a:rPr>
              <a:t>After: with `edge.kubeedge.io/hold-upgrade: "true“`</a:t>
            </a:r>
          </a:p>
        </p:txBody>
      </p:sp>
      <p:pic>
        <p:nvPicPr>
          <p:cNvPr id="1099" name="Picture 22">
            <a:extLst>
              <a:ext uri="{FF2B5EF4-FFF2-40B4-BE49-F238E27FC236}">
                <a16:creationId xmlns:a16="http://schemas.microsoft.com/office/drawing/2014/main" id="{32556136-9ACB-D912-993F-9E6D4F70E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372" y="489487"/>
            <a:ext cx="767699" cy="74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0" name="Picture 24" descr="KubeEdge · GitHub">
            <a:extLst>
              <a:ext uri="{FF2B5EF4-FFF2-40B4-BE49-F238E27FC236}">
                <a16:creationId xmlns:a16="http://schemas.microsoft.com/office/drawing/2014/main" id="{AFF75888-788F-D89B-E4BB-624E9AE4B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205" y="1314882"/>
            <a:ext cx="720452" cy="720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1" name="Picture 26" descr="ROS 2 · GitHub">
            <a:extLst>
              <a:ext uri="{FF2B5EF4-FFF2-40B4-BE49-F238E27FC236}">
                <a16:creationId xmlns:a16="http://schemas.microsoft.com/office/drawing/2014/main" id="{CD8AA20D-5FFB-0950-EB6D-71537B679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85" y="4170777"/>
            <a:ext cx="327506" cy="32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2" name="Picture 26" descr="ROS 2 · GitHub">
            <a:extLst>
              <a:ext uri="{FF2B5EF4-FFF2-40B4-BE49-F238E27FC236}">
                <a16:creationId xmlns:a16="http://schemas.microsoft.com/office/drawing/2014/main" id="{4F5A3589-375A-5541-9427-21D4CE7B8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873" y="4212423"/>
            <a:ext cx="327506" cy="32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3" name="Picture 26" descr="ROS 2 · GitHub">
            <a:extLst>
              <a:ext uri="{FF2B5EF4-FFF2-40B4-BE49-F238E27FC236}">
                <a16:creationId xmlns:a16="http://schemas.microsoft.com/office/drawing/2014/main" id="{6F21163C-FCCB-4A0F-9C50-D0B38FAF9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172" y="4170777"/>
            <a:ext cx="327506" cy="32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04" name="Connector: Elbow 1103">
            <a:extLst>
              <a:ext uri="{FF2B5EF4-FFF2-40B4-BE49-F238E27FC236}">
                <a16:creationId xmlns:a16="http://schemas.microsoft.com/office/drawing/2014/main" id="{4C227AC3-EA39-F1ED-7E33-5A83B508CECC}"/>
              </a:ext>
            </a:extLst>
          </p:cNvPr>
          <p:cNvCxnSpPr>
            <a:cxnSpLocks/>
            <a:stCxn id="57" idx="1"/>
            <a:endCxn id="4" idx="3"/>
          </p:cNvCxnSpPr>
          <p:nvPr/>
        </p:nvCxnSpPr>
        <p:spPr>
          <a:xfrm rot="10800000" flipV="1">
            <a:off x="3506773" y="2119524"/>
            <a:ext cx="1383980" cy="2946343"/>
          </a:xfrm>
          <a:prstGeom prst="bentConnector3">
            <a:avLst>
              <a:gd name="adj1" fmla="val 50000"/>
            </a:avLst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09" name="Straight Arrow Connector 1108">
            <a:extLst>
              <a:ext uri="{FF2B5EF4-FFF2-40B4-BE49-F238E27FC236}">
                <a16:creationId xmlns:a16="http://schemas.microsoft.com/office/drawing/2014/main" id="{C050101F-3DE6-BD1B-6BCE-E06D65485D55}"/>
              </a:ext>
            </a:extLst>
          </p:cNvPr>
          <p:cNvCxnSpPr>
            <a:cxnSpLocks/>
            <a:stCxn id="57" idx="2"/>
            <a:endCxn id="25" idx="0"/>
          </p:cNvCxnSpPr>
          <p:nvPr/>
        </p:nvCxnSpPr>
        <p:spPr>
          <a:xfrm>
            <a:off x="6121182" y="2428851"/>
            <a:ext cx="0" cy="211765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3" name="Connector: Elbow 1112">
            <a:extLst>
              <a:ext uri="{FF2B5EF4-FFF2-40B4-BE49-F238E27FC236}">
                <a16:creationId xmlns:a16="http://schemas.microsoft.com/office/drawing/2014/main" id="{BD70E55E-DF16-C12E-1C5D-CA7E7D615AE1}"/>
              </a:ext>
            </a:extLst>
          </p:cNvPr>
          <p:cNvCxnSpPr>
            <a:cxnSpLocks/>
            <a:stCxn id="57" idx="3"/>
            <a:endCxn id="40" idx="1"/>
          </p:cNvCxnSpPr>
          <p:nvPr/>
        </p:nvCxnSpPr>
        <p:spPr>
          <a:xfrm>
            <a:off x="7351610" y="2119525"/>
            <a:ext cx="1411077" cy="2921864"/>
          </a:xfrm>
          <a:prstGeom prst="bentConnector3">
            <a:avLst>
              <a:gd name="adj1" fmla="val 50000"/>
            </a:avLst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18" name="Straight Arrow Connector 1117">
            <a:extLst>
              <a:ext uri="{FF2B5EF4-FFF2-40B4-BE49-F238E27FC236}">
                <a16:creationId xmlns:a16="http://schemas.microsoft.com/office/drawing/2014/main" id="{D1265792-9AE2-40AE-E68B-F08552E3856A}"/>
              </a:ext>
            </a:extLst>
          </p:cNvPr>
          <p:cNvCxnSpPr>
            <a:cxnSpLocks/>
            <a:stCxn id="10" idx="1"/>
            <a:endCxn id="6" idx="2"/>
          </p:cNvCxnSpPr>
          <p:nvPr/>
        </p:nvCxnSpPr>
        <p:spPr>
          <a:xfrm flipH="1" flipV="1">
            <a:off x="1588310" y="4391268"/>
            <a:ext cx="938438" cy="58223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21" name="TextBox 1120">
            <a:extLst>
              <a:ext uri="{FF2B5EF4-FFF2-40B4-BE49-F238E27FC236}">
                <a16:creationId xmlns:a16="http://schemas.microsoft.com/office/drawing/2014/main" id="{FF3E304F-1AEE-32A7-ED51-39FCDEF60A22}"/>
              </a:ext>
            </a:extLst>
          </p:cNvPr>
          <p:cNvSpPr txBox="1"/>
          <p:nvPr/>
        </p:nvSpPr>
        <p:spPr>
          <a:xfrm>
            <a:off x="-14974" y="4501486"/>
            <a:ext cx="2460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3. Cache and Hold Upgrade</a:t>
            </a:r>
          </a:p>
        </p:txBody>
      </p:sp>
      <p:cxnSp>
        <p:nvCxnSpPr>
          <p:cNvPr id="1122" name="Straight Arrow Connector 1121">
            <a:extLst>
              <a:ext uri="{FF2B5EF4-FFF2-40B4-BE49-F238E27FC236}">
                <a16:creationId xmlns:a16="http://schemas.microsoft.com/office/drawing/2014/main" id="{D6DBE23D-E2BD-298D-335E-3312B47BD918}"/>
              </a:ext>
            </a:extLst>
          </p:cNvPr>
          <p:cNvCxnSpPr>
            <a:cxnSpLocks/>
            <a:stCxn id="29" idx="1"/>
            <a:endCxn id="26" idx="2"/>
          </p:cNvCxnSpPr>
          <p:nvPr/>
        </p:nvCxnSpPr>
        <p:spPr>
          <a:xfrm flipH="1" flipV="1">
            <a:off x="5433147" y="4391268"/>
            <a:ext cx="938438" cy="58223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28" name="Straight Arrow Connector 1127">
            <a:extLst>
              <a:ext uri="{FF2B5EF4-FFF2-40B4-BE49-F238E27FC236}">
                <a16:creationId xmlns:a16="http://schemas.microsoft.com/office/drawing/2014/main" id="{3473170C-7AAD-68E0-F22C-9E6E249E3EA0}"/>
              </a:ext>
            </a:extLst>
          </p:cNvPr>
          <p:cNvCxnSpPr>
            <a:cxnSpLocks/>
            <a:stCxn id="44" idx="0"/>
            <a:endCxn id="41" idx="2"/>
          </p:cNvCxnSpPr>
          <p:nvPr/>
        </p:nvCxnSpPr>
        <p:spPr>
          <a:xfrm flipH="1" flipV="1">
            <a:off x="9305081" y="4366789"/>
            <a:ext cx="1372820" cy="37125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8980BFF9-E3EC-2F3A-1336-774A2A892FB1}"/>
              </a:ext>
            </a:extLst>
          </p:cNvPr>
          <p:cNvSpPr/>
          <p:nvPr/>
        </p:nvSpPr>
        <p:spPr>
          <a:xfrm>
            <a:off x="2405205" y="3813536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244A2731-DB4D-4D2C-82CD-2EF17C07FB68}"/>
              </a:ext>
            </a:extLst>
          </p:cNvPr>
          <p:cNvSpPr/>
          <p:nvPr/>
        </p:nvSpPr>
        <p:spPr>
          <a:xfrm>
            <a:off x="6327601" y="3826180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401AF6A1-A6BC-188D-9E32-0F79F26B803B}"/>
              </a:ext>
            </a:extLst>
          </p:cNvPr>
          <p:cNvSpPr/>
          <p:nvPr/>
        </p:nvSpPr>
        <p:spPr>
          <a:xfrm>
            <a:off x="10144825" y="3717150"/>
            <a:ext cx="1084788" cy="56484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App</a:t>
            </a:r>
          </a:p>
          <a:p>
            <a:pPr algn="ctr"/>
            <a:r>
              <a:rPr kumimoji="1" lang="en-US" sz="1600" dirty="0">
                <a:solidFill>
                  <a:schemeClr val="tx1"/>
                </a:solidFill>
              </a:rPr>
              <a:t>Pod</a:t>
            </a:r>
          </a:p>
        </p:txBody>
      </p:sp>
      <p:cxnSp>
        <p:nvCxnSpPr>
          <p:cNvPr id="1137" name="Straight Arrow Connector 1136">
            <a:extLst>
              <a:ext uri="{FF2B5EF4-FFF2-40B4-BE49-F238E27FC236}">
                <a16:creationId xmlns:a16="http://schemas.microsoft.com/office/drawing/2014/main" id="{92935775-B21D-A251-F048-72472016237E}"/>
              </a:ext>
            </a:extLst>
          </p:cNvPr>
          <p:cNvCxnSpPr>
            <a:cxnSpLocks/>
            <a:stCxn id="10" idx="0"/>
            <a:endCxn id="1131" idx="2"/>
          </p:cNvCxnSpPr>
          <p:nvPr/>
        </p:nvCxnSpPr>
        <p:spPr>
          <a:xfrm flipH="1" flipV="1">
            <a:off x="2947599" y="4378382"/>
            <a:ext cx="13531" cy="38414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40" name="TextBox 1139">
            <a:extLst>
              <a:ext uri="{FF2B5EF4-FFF2-40B4-BE49-F238E27FC236}">
                <a16:creationId xmlns:a16="http://schemas.microsoft.com/office/drawing/2014/main" id="{2CF76BAF-CEFD-D562-1802-59E47B9E8DE1}"/>
              </a:ext>
            </a:extLst>
          </p:cNvPr>
          <p:cNvSpPr txBox="1"/>
          <p:nvPr/>
        </p:nvSpPr>
        <p:spPr>
          <a:xfrm>
            <a:off x="150950" y="3634087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5. Delete Deployment</a:t>
            </a:r>
          </a:p>
        </p:txBody>
      </p:sp>
      <p:pic>
        <p:nvPicPr>
          <p:cNvPr id="1146" name="Picture 2" descr="赤色の×マークイラスト素材透過png">
            <a:extLst>
              <a:ext uri="{FF2B5EF4-FFF2-40B4-BE49-F238E27FC236}">
                <a16:creationId xmlns:a16="http://schemas.microsoft.com/office/drawing/2014/main" id="{39E7EC76-1F73-87F4-94F5-67DF7BD8D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15" y="3808640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7" name="Picture 2" descr="赤色の×マークイラスト素材透過png">
            <a:extLst>
              <a:ext uri="{FF2B5EF4-FFF2-40B4-BE49-F238E27FC236}">
                <a16:creationId xmlns:a16="http://schemas.microsoft.com/office/drawing/2014/main" id="{172D4D9E-0DED-6E56-D37C-53B57AC89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818" y="3823095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8" name="Picture 2" descr="赤色の×マークイラスト素材透過png">
            <a:extLst>
              <a:ext uri="{FF2B5EF4-FFF2-40B4-BE49-F238E27FC236}">
                <a16:creationId xmlns:a16="http://schemas.microsoft.com/office/drawing/2014/main" id="{189B0C54-F530-2123-783C-15D358BA0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331" y="3798616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9" name="TextBox 1148">
            <a:extLst>
              <a:ext uri="{FF2B5EF4-FFF2-40B4-BE49-F238E27FC236}">
                <a16:creationId xmlns:a16="http://schemas.microsoft.com/office/drawing/2014/main" id="{FAB62AA1-EB49-DBD8-7DCD-168F015D2609}"/>
              </a:ext>
            </a:extLst>
          </p:cNvPr>
          <p:cNvSpPr txBox="1"/>
          <p:nvPr/>
        </p:nvSpPr>
        <p:spPr>
          <a:xfrm>
            <a:off x="2212695" y="3610053"/>
            <a:ext cx="2012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6. Create Deployment</a:t>
            </a:r>
          </a:p>
        </p:txBody>
      </p:sp>
      <p:cxnSp>
        <p:nvCxnSpPr>
          <p:cNvPr id="1151" name="Straight Arrow Connector 1150">
            <a:extLst>
              <a:ext uri="{FF2B5EF4-FFF2-40B4-BE49-F238E27FC236}">
                <a16:creationId xmlns:a16="http://schemas.microsoft.com/office/drawing/2014/main" id="{2FB40842-E72B-9DC2-A080-0375E0412090}"/>
              </a:ext>
            </a:extLst>
          </p:cNvPr>
          <p:cNvCxnSpPr>
            <a:cxnSpLocks/>
            <a:stCxn id="29" idx="0"/>
            <a:endCxn id="1133" idx="2"/>
          </p:cNvCxnSpPr>
          <p:nvPr/>
        </p:nvCxnSpPr>
        <p:spPr>
          <a:xfrm flipV="1">
            <a:off x="6805967" y="4391026"/>
            <a:ext cx="64028" cy="37150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54" name="Straight Arrow Connector 1153">
            <a:extLst>
              <a:ext uri="{FF2B5EF4-FFF2-40B4-BE49-F238E27FC236}">
                <a16:creationId xmlns:a16="http://schemas.microsoft.com/office/drawing/2014/main" id="{8AD04D70-A4FF-DF85-7BAE-82767FFACC80}"/>
              </a:ext>
            </a:extLst>
          </p:cNvPr>
          <p:cNvCxnSpPr>
            <a:cxnSpLocks/>
            <a:stCxn id="44" idx="0"/>
            <a:endCxn id="1135" idx="2"/>
          </p:cNvCxnSpPr>
          <p:nvPr/>
        </p:nvCxnSpPr>
        <p:spPr>
          <a:xfrm flipV="1">
            <a:off x="10677901" y="4281996"/>
            <a:ext cx="9318" cy="45605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57" name="Connector: Elbow 1156">
            <a:extLst>
              <a:ext uri="{FF2B5EF4-FFF2-40B4-BE49-F238E27FC236}">
                <a16:creationId xmlns:a16="http://schemas.microsoft.com/office/drawing/2014/main" id="{9696297A-06E7-44F2-688D-47CA39FEC75A}"/>
              </a:ext>
            </a:extLst>
          </p:cNvPr>
          <p:cNvCxnSpPr>
            <a:cxnSpLocks/>
            <a:stCxn id="1042" idx="3"/>
            <a:endCxn id="1037" idx="1"/>
          </p:cNvCxnSpPr>
          <p:nvPr/>
        </p:nvCxnSpPr>
        <p:spPr>
          <a:xfrm flipV="1">
            <a:off x="1898532" y="1034204"/>
            <a:ext cx="1670953" cy="1"/>
          </a:xfrm>
          <a:prstGeom prst="bentConnector3">
            <a:avLst>
              <a:gd name="adj1" fmla="val 50000"/>
            </a:avLst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TextBox 1159">
            <a:extLst>
              <a:ext uri="{FF2B5EF4-FFF2-40B4-BE49-F238E27FC236}">
                <a16:creationId xmlns:a16="http://schemas.microsoft.com/office/drawing/2014/main" id="{8C6BD59F-CDD5-DFDC-CB21-9D95CD4D34B9}"/>
              </a:ext>
            </a:extLst>
          </p:cNvPr>
          <p:cNvSpPr txBox="1"/>
          <p:nvPr/>
        </p:nvSpPr>
        <p:spPr>
          <a:xfrm>
            <a:off x="4325650" y="2509598"/>
            <a:ext cx="741812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800" b="1" i="1" u="sng" dirty="0">
                <a:solidFill>
                  <a:srgbClr val="0000FF"/>
                </a:solidFill>
              </a:rPr>
              <a:t>Fully controls when exactly application can be upgraded at Edge 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2918C-7297-D088-FB39-043EAAA7AB3D}"/>
              </a:ext>
            </a:extLst>
          </p:cNvPr>
          <p:cNvSpPr txBox="1"/>
          <p:nvPr/>
        </p:nvSpPr>
        <p:spPr>
          <a:xfrm>
            <a:off x="3931981" y="4463499"/>
            <a:ext cx="2460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3. Cache and Hold Upgrade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14FE65-AA70-8A9F-6CB6-F0075B0488BF}"/>
              </a:ext>
            </a:extLst>
          </p:cNvPr>
          <p:cNvSpPr txBox="1"/>
          <p:nvPr/>
        </p:nvSpPr>
        <p:spPr>
          <a:xfrm>
            <a:off x="7658268" y="4415310"/>
            <a:ext cx="24600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3. Cache and Hold Upgrade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00F7ACD-95C6-E726-38E4-B182B77D0109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337370" y="5184480"/>
            <a:ext cx="304104" cy="57791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2EC9A6-640D-50FE-2057-9B7B4EC15C11}"/>
              </a:ext>
            </a:extLst>
          </p:cNvPr>
          <p:cNvCxnSpPr>
            <a:cxnSpLocks/>
          </p:cNvCxnSpPr>
          <p:nvPr/>
        </p:nvCxnSpPr>
        <p:spPr>
          <a:xfrm flipV="1">
            <a:off x="5046903" y="5197335"/>
            <a:ext cx="304104" cy="57791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2749EC6-7702-28B6-6014-074A8952179F}"/>
              </a:ext>
            </a:extLst>
          </p:cNvPr>
          <p:cNvCxnSpPr>
            <a:cxnSpLocks/>
          </p:cNvCxnSpPr>
          <p:nvPr/>
        </p:nvCxnSpPr>
        <p:spPr>
          <a:xfrm flipV="1">
            <a:off x="9052429" y="5166690"/>
            <a:ext cx="304104" cy="57791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0F328C7-55D2-E083-4C54-8B93C1829370}"/>
              </a:ext>
            </a:extLst>
          </p:cNvPr>
          <p:cNvSpPr txBox="1"/>
          <p:nvPr/>
        </p:nvSpPr>
        <p:spPr>
          <a:xfrm>
            <a:off x="1641474" y="5145355"/>
            <a:ext cx="1850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4. Release hold lock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F5447C-822A-A6E3-1FE7-7D0F4E61F55B}"/>
              </a:ext>
            </a:extLst>
          </p:cNvPr>
          <p:cNvSpPr txBox="1"/>
          <p:nvPr/>
        </p:nvSpPr>
        <p:spPr>
          <a:xfrm>
            <a:off x="5366198" y="5160001"/>
            <a:ext cx="1850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4. Release hold lock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6604DC-DD60-F0E9-8248-BBEE759B06A7}"/>
              </a:ext>
            </a:extLst>
          </p:cNvPr>
          <p:cNvSpPr txBox="1"/>
          <p:nvPr/>
        </p:nvSpPr>
        <p:spPr>
          <a:xfrm>
            <a:off x="9267070" y="5158408"/>
            <a:ext cx="18502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4. Release hold lock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2293E4-9180-F894-2A19-774274A93D71}"/>
              </a:ext>
            </a:extLst>
          </p:cNvPr>
          <p:cNvSpPr txBox="1"/>
          <p:nvPr/>
        </p:nvSpPr>
        <p:spPr>
          <a:xfrm>
            <a:off x="4160443" y="3609206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5. Delete Deployment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069BA0-F2A6-8D1B-C7AE-8BB4BEC51BAA}"/>
              </a:ext>
            </a:extLst>
          </p:cNvPr>
          <p:cNvSpPr txBox="1"/>
          <p:nvPr/>
        </p:nvSpPr>
        <p:spPr>
          <a:xfrm>
            <a:off x="8153655" y="3582436"/>
            <a:ext cx="20151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5. Delete Deployment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35D16B-1E9F-02D1-F4FA-EA27249AD69F}"/>
              </a:ext>
            </a:extLst>
          </p:cNvPr>
          <p:cNvSpPr txBox="1"/>
          <p:nvPr/>
        </p:nvSpPr>
        <p:spPr>
          <a:xfrm>
            <a:off x="6110819" y="3562308"/>
            <a:ext cx="2012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6. Create Deployment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BFDDEF-1F78-FA72-E847-1E50AFC714E7}"/>
              </a:ext>
            </a:extLst>
          </p:cNvPr>
          <p:cNvSpPr txBox="1"/>
          <p:nvPr/>
        </p:nvSpPr>
        <p:spPr>
          <a:xfrm>
            <a:off x="10040763" y="3461883"/>
            <a:ext cx="2012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u="sng" dirty="0">
                <a:solidFill>
                  <a:srgbClr val="0000FF"/>
                </a:solidFill>
              </a:rPr>
              <a:t>6. Create Deployment</a:t>
            </a:r>
          </a:p>
        </p:txBody>
      </p:sp>
    </p:spTree>
    <p:extLst>
      <p:ext uri="{BB962C8B-B14F-4D97-AF65-F5344CB8AC3E}">
        <p14:creationId xmlns:p14="http://schemas.microsoft.com/office/powerpoint/2010/main" val="394502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8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8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1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2000"/>
                                        <p:tgtEl>
                                          <p:spTgt spid="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45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20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0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" grpId="0"/>
      <p:bldP spid="1097" grpId="0"/>
      <p:bldP spid="1121" grpId="0"/>
      <p:bldP spid="1131" grpId="0" animBg="1"/>
      <p:bldP spid="1133" grpId="0" animBg="1"/>
      <p:bldP spid="1135" grpId="0" animBg="1"/>
      <p:bldP spid="1140" grpId="0"/>
      <p:bldP spid="1149" grpId="0"/>
      <p:bldP spid="1160" grpId="0" animBg="1"/>
      <p:bldP spid="5" grpId="0"/>
      <p:bldP spid="7" grpId="0"/>
      <p:bldP spid="17" grpId="0"/>
      <p:bldP spid="18" grpId="0"/>
      <p:bldP spid="20" grpId="0"/>
      <p:bldP spid="27" grpId="0"/>
      <p:bldP spid="37" grpId="0"/>
      <p:bldP spid="42" grpId="0"/>
      <p:bldP spid="51" grpId="0"/>
    </p:bldLst>
  </p:timing>
</p:sld>
</file>

<file path=ppt/theme/theme1.xml><?xml version="1.0" encoding="utf-8"?>
<a:theme xmlns:a="http://schemas.openxmlformats.org/drawingml/2006/main" name="White Master">
  <a:themeElements>
    <a:clrScheme name="SONY">
      <a:dk1>
        <a:sysClr val="windowText" lastClr="000000"/>
      </a:dk1>
      <a:lt1>
        <a:sysClr val="window" lastClr="FFFFFF"/>
      </a:lt1>
      <a:dk2>
        <a:srgbClr val="7C388C"/>
      </a:dk2>
      <a:lt2>
        <a:srgbClr val="D42F7E"/>
      </a:lt2>
      <a:accent1>
        <a:srgbClr val="1952A6"/>
      </a:accent1>
      <a:accent2>
        <a:srgbClr val="54A9CC"/>
      </a:accent2>
      <a:accent3>
        <a:srgbClr val="318C3A"/>
      </a:accent3>
      <a:accent4>
        <a:srgbClr val="F2CE00"/>
      </a:accent4>
      <a:accent5>
        <a:srgbClr val="E6820B"/>
      </a:accent5>
      <a:accent6>
        <a:srgbClr val="CF1111"/>
      </a:accent6>
      <a:hlink>
        <a:srgbClr val="5887F5"/>
      </a:hlink>
      <a:folHlink>
        <a:srgbClr val="683ABD"/>
      </a:folHlink>
    </a:clrScheme>
    <a:fontScheme name="SONY">
      <a:majorFont>
        <a:latin typeface="SST"/>
        <a:ea typeface="SST Japanese Pro Regular"/>
        <a:cs typeface=""/>
      </a:majorFont>
      <a:minorFont>
        <a:latin typeface="SST"/>
        <a:ea typeface="SST Japanese Pro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  <a:alpha val="2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10871</TotalTime>
  <Words>1050</Words>
  <Application>Microsoft Office PowerPoint</Application>
  <PresentationFormat>Custom</PresentationFormat>
  <Paragraphs>419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White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Sony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加藤 大理</dc:creator>
  <cp:lastModifiedBy>Fujita, Tomoya (SGC)</cp:lastModifiedBy>
  <cp:revision>636</cp:revision>
  <cp:lastPrinted>2019-09-19T01:55:12Z</cp:lastPrinted>
  <dcterms:created xsi:type="dcterms:W3CDTF">2013-05-24T02:48:34Z</dcterms:created>
  <dcterms:modified xsi:type="dcterms:W3CDTF">2025-12-02T05:30:23Z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8e20e6-048a-4bad-a26b-318dd1cd4d47_Enabled">
    <vt:lpwstr>True</vt:lpwstr>
  </property>
  <property fmtid="{D5CDD505-2E9C-101B-9397-08002B2CF9AE}" pid="3" name="MSIP_Label_1f8e20e6-048a-4bad-a26b-318dd1cd4d47_SiteId">
    <vt:lpwstr>66c65d8a-9158-4521-a2d8-664963db48e4</vt:lpwstr>
  </property>
  <property fmtid="{D5CDD505-2E9C-101B-9397-08002B2CF9AE}" pid="4" name="MSIP_Label_1f8e20e6-048a-4bad-a26b-318dd1cd4d47_Owner">
    <vt:lpwstr>Tomoya.Fujita@sony.com</vt:lpwstr>
  </property>
  <property fmtid="{D5CDD505-2E9C-101B-9397-08002B2CF9AE}" pid="5" name="MSIP_Label_1f8e20e6-048a-4bad-a26b-318dd1cd4d47_SetDate">
    <vt:lpwstr>2019-09-10T06:27:40.7464771Z</vt:lpwstr>
  </property>
  <property fmtid="{D5CDD505-2E9C-101B-9397-08002B2CF9AE}" pid="6" name="MSIP_Label_1f8e20e6-048a-4bad-a26b-318dd1cd4d47_Name">
    <vt:lpwstr>Public</vt:lpwstr>
  </property>
  <property fmtid="{D5CDD505-2E9C-101B-9397-08002B2CF9AE}" pid="7" name="MSIP_Label_1f8e20e6-048a-4bad-a26b-318dd1cd4d47_Application">
    <vt:lpwstr>Microsoft Azure Information Protection</vt:lpwstr>
  </property>
  <property fmtid="{D5CDD505-2E9C-101B-9397-08002B2CF9AE}" pid="8" name="MSIP_Label_1f8e20e6-048a-4bad-a26b-318dd1cd4d47_ActionId">
    <vt:lpwstr>c9ee54aa-434b-411b-92f4-5b47e1ea64c4</vt:lpwstr>
  </property>
  <property fmtid="{D5CDD505-2E9C-101B-9397-08002B2CF9AE}" pid="9" name="MSIP_Label_1f8e20e6-048a-4bad-a26b-318dd1cd4d47_Extended_MSFT_Method">
    <vt:lpwstr>Manual</vt:lpwstr>
  </property>
  <property fmtid="{D5CDD505-2E9C-101B-9397-08002B2CF9AE}" pid="10" name="Sensitivity">
    <vt:lpwstr>Public</vt:lpwstr>
  </property>
</Properties>
</file>